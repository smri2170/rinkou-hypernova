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1828800"/>
            <a:ext cx="73152" cy="146304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1828800"/>
            <a:ext cx="8357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HyperNova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76072" y="2697480"/>
            <a:ext cx="8174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Arguments for Customizable Constraint Systems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6072" y="3200400"/>
            <a:ext cx="8174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CCS に対する folding scheme ── Nova / SuperNova の後継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" y="4023360"/>
            <a:ext cx="4114800" cy="0"/>
          </a:xfrm>
          <a:prstGeom prst="line">
            <a:avLst/>
          </a:prstGeom>
          <a:noFill/>
          <a:ln w="12700">
            <a:solidFill>
              <a:srgbClr val="2826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42062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Abhiram Kothapalli  ・  Srinath Setty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Research  /  CMU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IACR ePrint 2023/573  ・  CRYPTO 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5852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 2 回 輪講発表</a:t>
            </a:r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発表時間 15 分  ・  全 13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225296"/>
            <a:ext cx="8284464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1. 背景と動機 ── なぜ recursive SNARK が必要か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2. zk-SNARK の基本 ── 用語と 3 性質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3. 制約システムの比較 ── R1CS / Plonkish / AIR / CCS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4. Recursive SNARK と IVC ── 概念と流れ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5. Folding Scheme と Nova ── 先行研究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6. HyperNova の提案 ── CCS への一般化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7. 主な技術貢献 ── multi-folding / CycleFold / NovaBlindFold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8. 性能評価と応用</a:t>
            </a:r>
            <a:endParaRPr lang="en-US" sz="23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9. 限界と今後 ── まとめ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背景と動機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長い計算を、1 つの SNARK に詰め込みたい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ZK 証明の応用領域が爆発的に拡大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zkVM（RISC-V / EVM の実行証明）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ZK-Rollup（Polygon zkEVM, zkSync, Scroll, Linea）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succinct blockchain（Mina）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LLM provenance（ZKPROV, arXiv 2506.20915）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しかし，全ての state transition を 1 つの SNARK で証明するのは非現実的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巨大な回路は prover のメモリと時間が破綻する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数百万ステップの EVM 実行を monolithic に証明できない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7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解決策 ── 「インクリメンタルに証明を更新する」フレームワーク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各ステップの結果を 1 ステップずつ証明していく</a:t>
            </a:r>
            <a:endParaRPr lang="en-US" sz="17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最終ステップの証明が，全計算の正当性を代表する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zk-SNARK の基本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zk-SNARK = Zero-Knowledge Succinct Non-Interactive ARgument of Knowledge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zk-SNARK</a:t>
            </a:r>
            <a:pPr algn="l" indent="0" marL="0">
              <a:buNone/>
            </a:pPr>
            <a:r>
              <a:rPr lang="en-US" sz="16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（Zero-Knowledge Succinct Non-Interactive ARgument of Knowledge）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1682496"/>
            <a:ext cx="828446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証明したい命題 x と，証明者だけが知っている証拠 ω に対し，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Verify(vk, x, π) → {0,1} で誰でも検証できる小さな証明 π を生成するプロトコル。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満たすべき 3 性質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Completeness ── 真の命題は真と証明される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Soundness ── 偽の命題は偽と判定される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Zero-Knowledge ── 命題の真偽以外は何も漏れない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主な既存 SNARK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Groth16 ── 証明サイズ最小，trusted setup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PLONK ── universal setup，Plonkish arithmetization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STARK ── trusted setup 不要，post-quantum 安全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HyperNova は SNARK そのものではなく「SNARK の合成法」を提案する論文。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制約システムの比較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R1CS / Plonkish / AIR / CCS ── それぞれ独立して発展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1225296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6400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制約の形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自由度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代表実装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R1CS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二次 (a·b = c) のみ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Groth16, Nova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Plonkish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高次ゲート + コピー制約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PLONK, Halo2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AIR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トレース + 遷移多項式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STARK, RISC0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CCS（本論文）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任意次数を統一的に表現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HyperNova, ProtoStar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225296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考察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それぞれ独立したツールで実装されてきた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回路表現が異なるため，相互運用が困難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CCS = R1CS / Plonkish / AIR を subsume する表現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folding scheme を一度作れば，全ての形式に使える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3192" y="5943600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= Customizable Constraint System （Setty et al., ePrint 2023/552）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Recursive SNARK と IVC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各ステップの証明を次ステップへ「圧縮」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3716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371600" cy="594360"/>
          </a:xfrm>
          <a:prstGeom prst="rect">
            <a:avLst/>
          </a:prstGeom>
          <a:solidFill>
            <a:srgbClr val="E8EFF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proof (1)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54864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48840" y="1463040"/>
            <a:ext cx="13716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2560320"/>
            <a:ext cx="1371600" cy="594360"/>
          </a:xfrm>
          <a:prstGeom prst="rect">
            <a:avLst/>
          </a:prstGeom>
          <a:solidFill>
            <a:srgbClr val="E8EFF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proof (2)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057400"/>
            <a:ext cx="54864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463040"/>
            <a:ext cx="13716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2560320"/>
            <a:ext cx="1371600" cy="594360"/>
          </a:xfrm>
          <a:prstGeom prst="rect">
            <a:avLst/>
          </a:prstGeom>
          <a:solidFill>
            <a:srgbClr val="E8EFF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proof (3)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2057400"/>
            <a:ext cx="54864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32120" y="1463040"/>
            <a:ext cx="13716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(F4)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2560320"/>
            <a:ext cx="1371600" cy="594360"/>
          </a:xfrm>
          <a:prstGeom prst="rect">
            <a:avLst/>
          </a:prstGeom>
          <a:solidFill>
            <a:srgbClr val="E8EFF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proof (4)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2057400"/>
            <a:ext cx="54864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828800" y="2331720"/>
            <a:ext cx="274320" cy="0"/>
          </a:xfrm>
          <a:prstGeom prst="line">
            <a:avLst/>
          </a:prstGeom>
          <a:noFill/>
          <a:ln w="19050">
            <a:solidFill>
              <a:srgbClr val="3E7EC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520440" y="2331720"/>
            <a:ext cx="274320" cy="0"/>
          </a:xfrm>
          <a:prstGeom prst="line">
            <a:avLst/>
          </a:prstGeom>
          <a:noFill/>
          <a:ln w="19050">
            <a:solidFill>
              <a:srgbClr val="3E7E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12080" y="2331720"/>
            <a:ext cx="274320" cy="0"/>
          </a:xfrm>
          <a:prstGeom prst="line">
            <a:avLst/>
          </a:prstGeom>
          <a:noFill/>
          <a:ln w="19050">
            <a:solidFill>
              <a:srgbClr val="3E7EC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2560320"/>
            <a:ext cx="155448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560320"/>
            <a:ext cx="1554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 proof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IVC = Incrementally Verifiable Computation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7772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60520"/>
            <a:ext cx="7772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次のステップを実行した + 過去の証明を継承した を一体で証明する。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 proof だけ見れば，全ステップの正当性が検証できる。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7772400" cy="54864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7772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HyperNova はこの IVC フレームワークを CCS 上で効率化したもの。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Folding Scheme と Nova ── 先行研究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 つの NP instance を 1 つに折り畳む」暗号プリミティブ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Folding Scheme</a:t>
            </a:r>
            <a:pPr algn="l" indent="0" marL="0">
              <a:buNone/>
            </a:pPr>
            <a:r>
              <a:rPr lang="en-US" sz="16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 つの instance を 1 つに reduce する暗号プリミティブ）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1682496"/>
            <a:ext cx="828446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アイデア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NP 関係 R の instance 2 つ (u₁, u₂) を新しい instance u に reduce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u₁ が真 ⟺ u₂ が真 ⟺ u が真 ── 等価性を保つ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並列で複数の証明を 1 つに集約できる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Nova（CRYPTO 2022）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folding scheme を SNARK の再帰に使う初の構成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双子楕円曲線（Pallas / Vesta）サイクル上で動作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R1CS 専用 ── 他システムではそのまま使えない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Nova の制約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prover のコストが「ステップ回路サイズ |C|」に比例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Plonkish / AIR 上で同じ folding をすると効率が大きく落ちる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R1CS に閉じているため，他 SNARK 系で個別最適化が必要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HyperNova の提案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CCS に対する folding scheme + multi-folding ── 一般化された IVC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HyperNova</a:t>
            </a:r>
            <a:pPr algn="l" indent="0" marL="0">
              <a:buNone/>
            </a:pPr>
            <a:r>
              <a:rPr lang="en-US" sz="16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（CCS に対する folding scheme（Kothapalli &amp; Setty, CRYPTO 2024））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1682496"/>
            <a:ext cx="828446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何が新しいか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R1CS に限定されず，CCS（R1CS / Plonkish / AIR を subsume）上で直接 folding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constraint system の形に依存しない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高次の non-uniform constraint（ステップごとに回路が異なる）を扱う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性能上の主張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Prover cost =「変数数 N の 1 回の MSM」で完了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・─ Nova は各ステップで回路全体 |C| に比例した prover が必要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・─ HyperNova は「呼ばれた命令の回路サイズ」に比例する à la carte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・─ zkVM のように実行ステップごとに命令が変わるケースで特に有利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同時に提供される副次的貢献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Multi-folding ── 異なる NP relation 同士の fold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CycleFold ── 双子楕円曲線サイクルの汎用化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・ NovaBlindFold ── 追加 SNARK なしで ZK を加える技法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主な技術貢献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CCS folding を中心に，4 つの副次的貢献を同時に提供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1. CCS に対する folding scheme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R1CS / Plonkish / AIR を統一的に扱える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prover cost = 1 回の MSM（変数数 N に比例）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2. Multi-folding scheme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異なる構造を持つ NP relation を同時に 1 つの instance に fold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例: CCS instance + LCCS instance を 1 つの LCCS に集約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非均一 IVC（SuperNova 系）の自然な一般化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3. CycleFold ── 楕円曲線サイクルの汎用化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Nova / SuperNova / HyperNova いずれでも再利用可能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IVC を楕円曲線サイクル上で構成するときの共通インフラ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4. NovaBlindFold ── ZK を SNARK なしで追加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Nova 自身が持つ blinding 性質を利用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別途 zk-SNARK を被さずに IVC 証明をゼロ知識化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実装コスト・回路サイズの双方を削減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性能評価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prover cost を O(1) MSM に ── 既存 folding scheme との比較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1225296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Nova (CRYPTO 2022)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SuperNova (2022)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HyperNova (本論文)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対象制約系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R1CS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R1CS（非均一）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CCS（R1CS / Plonkish / AIR）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prover / step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O(|C|) SM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O(|step|) SM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O(N) MSM（1 回）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verifier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trusted setup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HyperKZG 利用時は必要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サイクル曲線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必要（CycleFold）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非均一ステップ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ZK 性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 SNARK が必要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 SNARK が必要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NovaBlindFold で SNARK 不要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225296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考察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HyperNova は prover コストを「回路サイズ」から「実行命令の回路サイズ」に分離した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zkVM / ZK-Rollup のように命令が混在する workload で特に有利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代償: HyperKZG に trusted setup，CycleFold 用の楕円曲線ペア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NovaBlindFold で別 SNARK 不要 ── 全体の回路サイズを縮小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3192" y="6080760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MSM: Multi-Scalar Multiplication  /  SM: Scalar Multiplication  /  N: 回路の変数数  /  |C|: 回路全体のサイズ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HyperNova の応用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「長い計算の証明」が必要な領域で広く使われる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3192" y="1325880"/>
            <a:ext cx="402336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zkVM（RISC-V / EVM の実行証明）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" y="18288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2880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各命令の回路サイズに比例する prover で VM の実行全体を表せるため，最適な IVC バックエンドとして HyperNova 系が採用されつつある。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36008" y="1325880"/>
            <a:ext cx="4023360" cy="457200"/>
          </a:xfrm>
          <a:prstGeom prst="rect">
            <a:avLst/>
          </a:prstGeom>
          <a:solidFill>
            <a:srgbClr val="E8EFF8"/>
          </a:solidFill>
          <a:ln w="6350">
            <a:solidFill>
              <a:srgbClr val="E8EF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ZK-Rollup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36008" y="18288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82880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Polygon zkEVM, zkSync などの Validity Proof 系 rollup のバックエンド候補。トランザクション集約のコストを抑えられる。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" y="3840480"/>
            <a:ext cx="402336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provenance（ZKPROV）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" y="43434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434340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arXiv 2506.20915 で，各層の binding 制約を HyperNova で multi-fold し，1 つの succinct 証明に集約する手法が提案されている。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36008" y="3840480"/>
            <a:ext cx="402336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信頼最小化クロスチェーンブリッジ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36008" y="43434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434340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bridge 文献（HyperNova とは別系統・同名の Supra 製品）では ZKP を destination chain SC で検証するが，証明生成側に folding 系を使う構成も研究されている。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限界と今後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「最も強い SNARK」ではなく「最も実用化に近い folding 系」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40050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現状の限界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双子楕円曲線（CycleFold）に依存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高効率なペアリング可能曲線ペア（Pallas / Vesta 等）が必要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HyperKZG 利用時は trusted setup が必要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post-quantum 安全性は未対応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Nova / SuperNova ほどの実装成熟度はまだ浅い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72584" y="1225296"/>
            <a:ext cx="40050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今後の方向性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楕円曲線サイクル不要な構成への拡張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hash-based / lattice-based 証明系への展開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zkVM / ZK-Rollup のバックエンドとして本番採用が進行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Lurk / Sonobe / VIMz などモジュールへの取り込み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後続研究: ProtoStar, Protogalaxy, KiloNova への流れ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17136" y="1316736"/>
            <a:ext cx="0" cy="475488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HyperNova ── ZKP の表現力と効率を大きく前進させた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96B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✓ HyperNova = CCS に対する folding scheme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  R1CS / Plonkish / AIR を統一的に扱える初の IVC フレームワーク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96B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✓ Prover cost を「回路サイズ」から「呼ばれた命令の回路」に分離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  zkVM / ZK-Rollup / LLM provenance で特に有利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196B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✓ Multi-folding / CycleFold / NovaBlindFold を同時提供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  非均一ステップ，楕円曲線サイクルの汎用化，ZK の簡素化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✗ 双子楕円曲線と（HyperKZG 利用時の）trusted setup は残る</a:t>
            </a:r>
            <a:endParaRPr lang="en-US" sz="13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  post-quantum 安全性は今後の課題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" y="5303520"/>
            <a:ext cx="8284464" cy="822960"/>
          </a:xfrm>
          <a:prstGeom prst="rect">
            <a:avLst/>
          </a:prstGeom>
          <a:solidFill>
            <a:srgbClr val="E8EFF8"/>
          </a:solidFill>
          <a:ln w="6350">
            <a:solidFill>
              <a:srgbClr val="3E7E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53035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 ── HyperNova は「zkVM 時代の IVC バックエンド」候補として最有力。CCS general 化により，ZKP の表現力と効率を同時に押し上げた。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6217920"/>
            <a:ext cx="8284464" cy="411480"/>
          </a:xfrm>
          <a:prstGeom prst="rect">
            <a:avLst/>
          </a:prstGeom>
          <a:solidFill>
            <a:srgbClr val="E8EFF8"/>
          </a:solidFill>
          <a:ln w="6350">
            <a:solidFill>
              <a:srgbClr val="3E7E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217920"/>
            <a:ext cx="801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 ── ご清聴ありがとうございました。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数式編 (1) ── IVC と Folding の形式定義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HyperNova の主張を数式で正確に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 Incrementally Verifiable Computation (IVC) とは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Setup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(1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λ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→ (pk, vk).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Prover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 witness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ω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_i から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π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_i を更新: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π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_i ←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Prove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(pk, F, z_0, i, (z_1, ω_1), …, (z_i, ω_i))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Verifier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は最終 π だけ見て判定: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Verify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(vk, F, z_0, i, z_i, π_i) →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{accept, reject}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性質 3 つ ──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Completeness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Soundness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ZK (Hiding)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" y="3611880"/>
            <a:ext cx="828446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3749040"/>
            <a:ext cx="8284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 Folding Scheme とは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2 つの NP instance を 1 つの instance に集約する暗号プリミティブ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(u_1, u_2)  ── Fold ──→  u_3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Prover と Verifier の動作: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Fold.Prove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(pk, u_1, u_2, w_1, w_2) →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π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_3  (folded proof)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Fold.Verify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(vk, u_1, u_2, u_3, π_3) →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{accept}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Folding のコスト: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prover は 1 回の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MSM (multi-scalar multiplication)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 1 step を完了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cost = </a:t>
            </a:r>
            <a:pPr algn="l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O(1)·MSM(size N)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←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は制約システムの変数数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6355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Nova は </a:t>
            </a:r>
            <a:pPr algn="l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R1CS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専用 / HyperNova は </a:t>
            </a:r>
            <a:pPr algn="l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CCS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で同じ O(1)·MSM コスト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数式編 (2) ── ZK-IVC と Hiding (NovaBlindFold)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"計算の正当性" だけでなく "中身を秘匿" 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82844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 ZK-IVC (Zero-Knowledge IVC) とは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IVC にさらに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Zero-Knowledge (Hiding)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を加えたもの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Hiding = 次の 3 つを 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一切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明かさない: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① 中間状態 z_1, z_2, …, z_{i-1} （隠蔽）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② 各 step の witness ω_1, …, ω_i （秘匿）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③ 証明 π_i と witness のリンク性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なぜ重要か（zkVM の文脈）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LLM inference / 医療データ / 秘密鍵計算など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中身を知られずに「正しく実行された」ことだけを示したい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" y="3657600"/>
            <a:ext cx="8284464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3794760"/>
            <a:ext cx="8284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 NovaBlindFold ── 追加 SNARK なしで ZK を加える技法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Nova の folding 自体がもつ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blinding property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を利用する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ランダム instance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ρ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 fold して IVC 証明に混ぜる: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π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_zk ← </a:t>
            </a:r>
            <a:pPr algn="l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Fold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(π_n, </a:t>
            </a:r>
            <a:pPr algn="l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ρ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blinding 性の意味: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Verify(vk, z_0, n, z_n, π_zk) は </a:t>
            </a:r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「任意のランダム化された証明との区別不能性」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を満たす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◾ 既存方式との比較: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 Nova 系</a:t>
            </a:r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── 別 SNARK（Groth16 等）を被せて ZK 化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    </a:t>
            </a:r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HyperNova (本論文)</a:t>
            </a:r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── 上の Fold(π, ρ) だけで ZK 化（回路サイズ小）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264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393192" y="91440"/>
            <a:ext cx="835761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62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実データ編 ── HyperNova vs Nova のベンチマーク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93192" y="813816"/>
            <a:ext cx="64008" cy="274320"/>
          </a:xfrm>
          <a:prstGeom prst="rect">
            <a:avLst/>
          </a:prstGeom>
          <a:solidFill>
            <a:srgbClr val="3E7EC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786384"/>
            <a:ext cx="8174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 つの主張」を 4 つの数字で裏付ける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1225296"/>
          <a:ext cx="82844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286000"/>
                <a:gridCol w="215798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Nova (R1CS)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SuperNova (R1CS, 非均一)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HyperNova (CCS)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E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prover / step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O(|C|) の Scalar Mult.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O(|step|) の Scalar Mult.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× MSM (size N) + O(log N) hash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verifier 回路サイズ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 10K gates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 10K gates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同程度（汎用の加算）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proof size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O(1) 数 kB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O(1) 数 kB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O(1) 数 kB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trusted setup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HyperKZG 利用時のみ必要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双子楕円曲線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必要（CycleFold 経由）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ZK (hiding) 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 SNARK が必要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 SNARK が必要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262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NovaBlindFold で不要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93192" y="4160520"/>
            <a:ext cx="82844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3E7E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■ 読み取り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HyperNova の prover コストは「実行された 1 命令の回路サイズの変数数 N」だけ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─ zkVM で命令が混在する workload では，殆どの step で N ≪ |C| にできる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─ たとえば EVM 実行では，ADD 命令の N は数 100，JUMPI は数千 ── 全体を再証明する必要なし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verifier 回路は Nova 系と同じ ~10K gates 前後 ── L1 での on-chain verify に十分軽い</a:t>
            </a:r>
            <a:endParaRPr lang="en-US" sz="1500" dirty="0"/>
          </a:p>
          <a:p>
            <a:pPr algn="l" lvl="1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8262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• proof size は O(1) ── どの IVC でも最終証明のサイズは変わらない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3192" y="6263640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HyperNova paper (ePrint 2023/573) §6 / microsoft/Nova README / Nexus zkVM blog (2025)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HyperNova - Recursive Arguments for Customizable Constraint Systems</dc:title>
  <dc:subject>CRYPTO 2024 paper overview</dc:subject>
  <dc:creator>Rinkou 2nd presentation</dc:creator>
  <cp:lastModifiedBy>Rinkou 2nd presentation</cp:lastModifiedBy>
  <cp:revision>1</cp:revision>
  <dcterms:created xsi:type="dcterms:W3CDTF">2026-10-16T00:15:23Z</dcterms:created>
  <dcterms:modified xsi:type="dcterms:W3CDTF">2026-10-16T00:15:23Z</dcterms:modified>
</cp:coreProperties>
</file>