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93192" y="1828800"/>
            <a:ext cx="73152" cy="1463040"/>
          </a:xfrm>
          <a:prstGeom prst="rect">
            <a:avLst/>
          </a:prstGeom>
          <a:solidFill>
            <a:srgbClr val="3E7EC7"/>
          </a:solidFill>
          <a:ln/>
        </p:spPr>
      </p:sp>
      <p:sp>
        <p:nvSpPr>
          <p:cNvPr id="3" name="Text 1"/>
          <p:cNvSpPr/>
          <p:nvPr/>
        </p:nvSpPr>
        <p:spPr>
          <a:xfrm>
            <a:off x="393192" y="1828800"/>
            <a:ext cx="835761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282629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HyperNova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576072" y="2697480"/>
            <a:ext cx="817473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3E7E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Recursive Arguments for Customizable Constraint Systems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76072" y="3200400"/>
            <a:ext cx="817473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CCS に対する folding scheme ── Nova / SuperNova の後継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93192" y="4023360"/>
            <a:ext cx="4114800" cy="0"/>
          </a:xfrm>
          <a:prstGeom prst="line">
            <a:avLst/>
          </a:prstGeom>
          <a:noFill/>
          <a:ln w="12700">
            <a:solidFill>
              <a:srgbClr val="28262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93192" y="4206240"/>
            <a:ext cx="59436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Abhiram Kothapalli  ・  Srinath Setty</a:t>
            </a:r>
            <a:pPr algn="l"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
</a:t>
            </a:r>
            <a:pPr algn="l"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6B7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Microsoft Research  /  CMU</a:t>
            </a:r>
            <a:pPr algn="l"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
</a:t>
            </a:r>
            <a:pPr algn="l"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6B7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IACR ePrint 2023/573  ・  CRYPTO 2024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0" y="5852160"/>
            <a:ext cx="23774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代 2 回 輪講発表</a:t>
            </a:r>
            <a:pPr algn="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
</a:t>
            </a:r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発表時間 15 分  ・  全 13 枚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12648"/>
          </a:xfrm>
          <a:prstGeom prst="rect">
            <a:avLst/>
          </a:prstGeom>
          <a:solidFill>
            <a:srgbClr val="F3F4F6"/>
          </a:solidFill>
          <a:ln/>
        </p:spPr>
      </p:sp>
      <p:sp>
        <p:nvSpPr>
          <p:cNvPr id="3" name="Text 1"/>
          <p:cNvSpPr/>
          <p:nvPr/>
        </p:nvSpPr>
        <p:spPr>
          <a:xfrm>
            <a:off x="393192" y="91440"/>
            <a:ext cx="8357616" cy="4297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282629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目次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93192" y="1225296"/>
            <a:ext cx="8284464" cy="5120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600"/>
              </a:spcBef>
              <a:buNone/>
            </a:pPr>
            <a:r>
              <a:rPr lang="en-US" sz="2300" b="1" dirty="0">
                <a:solidFill>
                  <a:srgbClr val="3E7E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■ 1. 背景と動機 ── なぜ recursive SNARK が必要か</a:t>
            </a:r>
            <a:endParaRPr lang="en-US" sz="2300" dirty="0"/>
          </a:p>
          <a:p>
            <a:pPr algn="l" indent="0" marL="0">
              <a:spcBef>
                <a:spcPts val="600"/>
              </a:spcBef>
              <a:buNone/>
            </a:pPr>
            <a:r>
              <a:rPr lang="en-US" sz="2300" b="1" dirty="0">
                <a:solidFill>
                  <a:srgbClr val="3E7E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■ 2. zk-SNARK の基本 ── 用語と 3 性質</a:t>
            </a:r>
            <a:endParaRPr lang="en-US" sz="2300" dirty="0"/>
          </a:p>
          <a:p>
            <a:pPr algn="l" indent="0" marL="0">
              <a:spcBef>
                <a:spcPts val="600"/>
              </a:spcBef>
              <a:buNone/>
            </a:pPr>
            <a:r>
              <a:rPr lang="en-US" sz="2300" b="1" dirty="0">
                <a:solidFill>
                  <a:srgbClr val="3E7E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■ 3. 制約システムの比較 ── R1CS / Plonkish / AIR / CCS</a:t>
            </a:r>
            <a:endParaRPr lang="en-US" sz="2300" dirty="0"/>
          </a:p>
          <a:p>
            <a:pPr algn="l" indent="0" marL="0">
              <a:spcBef>
                <a:spcPts val="600"/>
              </a:spcBef>
              <a:buNone/>
            </a:pPr>
            <a:r>
              <a:rPr lang="en-US" sz="2300" b="1" dirty="0">
                <a:solidFill>
                  <a:srgbClr val="3E7E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■ 4. Recursive SNARK と IVC ── 概念と流れ</a:t>
            </a:r>
            <a:endParaRPr lang="en-US" sz="2300" dirty="0"/>
          </a:p>
          <a:p>
            <a:pPr algn="l" indent="0" marL="0">
              <a:spcBef>
                <a:spcPts val="600"/>
              </a:spcBef>
              <a:buNone/>
            </a:pPr>
            <a:r>
              <a:rPr lang="en-US" sz="2300" b="1" dirty="0">
                <a:solidFill>
                  <a:srgbClr val="3E7E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■ 5. Folding Scheme と Nova ── 先行研究</a:t>
            </a:r>
            <a:endParaRPr lang="en-US" sz="2300" dirty="0"/>
          </a:p>
          <a:p>
            <a:pPr algn="l" indent="0" marL="0">
              <a:spcBef>
                <a:spcPts val="600"/>
              </a:spcBef>
              <a:buNone/>
            </a:pPr>
            <a:r>
              <a:rPr lang="en-US" sz="2300" b="1" dirty="0">
                <a:solidFill>
                  <a:srgbClr val="3E7E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■ 6. HyperNova の提案 ── CCS への一般化</a:t>
            </a:r>
            <a:endParaRPr lang="en-US" sz="2300" dirty="0"/>
          </a:p>
          <a:p>
            <a:pPr algn="l" indent="0" marL="0">
              <a:spcBef>
                <a:spcPts val="600"/>
              </a:spcBef>
              <a:buNone/>
            </a:pPr>
            <a:r>
              <a:rPr lang="en-US" sz="2300" b="1" dirty="0">
                <a:solidFill>
                  <a:srgbClr val="3E7E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■ 7. 主な技術貢献 ── multi-folding / CycleFold / NovaBlindFold</a:t>
            </a:r>
            <a:endParaRPr lang="en-US" sz="2300" dirty="0"/>
          </a:p>
          <a:p>
            <a:pPr algn="l" indent="0" marL="0">
              <a:spcBef>
                <a:spcPts val="600"/>
              </a:spcBef>
              <a:buNone/>
            </a:pPr>
            <a:r>
              <a:rPr lang="en-US" sz="2300" b="1" dirty="0">
                <a:solidFill>
                  <a:srgbClr val="3E7E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■ 8. 性能評価と応用</a:t>
            </a:r>
            <a:endParaRPr lang="en-US" sz="2300" dirty="0"/>
          </a:p>
          <a:p>
            <a:pPr algn="l" indent="0" marL="0">
              <a:spcBef>
                <a:spcPts val="600"/>
              </a:spcBef>
              <a:buNone/>
            </a:pPr>
            <a:r>
              <a:rPr lang="en-US" sz="2300" b="1" dirty="0">
                <a:solidFill>
                  <a:srgbClr val="3E7E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■ 9. 限界と今後 ── まとめ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393192" y="6601968"/>
            <a:ext cx="53949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826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12648"/>
          </a:xfrm>
          <a:prstGeom prst="rect">
            <a:avLst/>
          </a:prstGeom>
          <a:solidFill>
            <a:srgbClr val="F3F4F6"/>
          </a:solidFill>
          <a:ln/>
        </p:spPr>
      </p:sp>
      <p:sp>
        <p:nvSpPr>
          <p:cNvPr id="3" name="Text 1"/>
          <p:cNvSpPr/>
          <p:nvPr/>
        </p:nvSpPr>
        <p:spPr>
          <a:xfrm>
            <a:off x="393192" y="91440"/>
            <a:ext cx="8357616" cy="4297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282629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背景と動機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93192" y="813816"/>
            <a:ext cx="64008" cy="274320"/>
          </a:xfrm>
          <a:prstGeom prst="rect">
            <a:avLst/>
          </a:prstGeom>
          <a:solidFill>
            <a:srgbClr val="3E7EC7"/>
          </a:solidFill>
          <a:ln/>
        </p:spPr>
      </p:sp>
      <p:sp>
        <p:nvSpPr>
          <p:cNvPr id="5" name="Text 3"/>
          <p:cNvSpPr/>
          <p:nvPr/>
        </p:nvSpPr>
        <p:spPr>
          <a:xfrm>
            <a:off x="576072" y="786384"/>
            <a:ext cx="817473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3E7E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長い計算を、1 つの SNARK に詰め込みたい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393192" y="1225296"/>
            <a:ext cx="8284464" cy="5120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600"/>
              </a:spcBef>
              <a:buNone/>
            </a:pPr>
            <a:r>
              <a:rPr lang="en-US" sz="1700" b="1" dirty="0">
                <a:solidFill>
                  <a:srgbClr val="3E7E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■ ZK 証明の応用領域が爆発的に拡大</a:t>
            </a:r>
            <a:endParaRPr lang="en-US" sz="1700" dirty="0"/>
          </a:p>
          <a:p>
            <a:pPr algn="l" lvl="1" indent="0" marL="0">
              <a:spcBef>
                <a:spcPts val="300"/>
              </a:spcBef>
              <a:buNone/>
            </a:pPr>
            <a:r>
              <a:rPr lang="en-US" sz="1400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• zkVM（RISC-V / EVM の実行証明）</a:t>
            </a:r>
            <a:endParaRPr lang="en-US" sz="1700" dirty="0"/>
          </a:p>
          <a:p>
            <a:pPr algn="l" lvl="1" indent="0" marL="0">
              <a:spcBef>
                <a:spcPts val="300"/>
              </a:spcBef>
              <a:buNone/>
            </a:pPr>
            <a:r>
              <a:rPr lang="en-US" sz="1400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• ZK-Rollup（Polygon zkEVM, zkSync, Scroll, Linea）</a:t>
            </a:r>
            <a:endParaRPr lang="en-US" sz="1700" dirty="0"/>
          </a:p>
          <a:p>
            <a:pPr algn="l" lvl="1" indent="0" marL="0">
              <a:spcBef>
                <a:spcPts val="300"/>
              </a:spcBef>
              <a:buNone/>
            </a:pPr>
            <a:r>
              <a:rPr lang="en-US" sz="1400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• succinct blockchain（Mina）</a:t>
            </a:r>
            <a:endParaRPr lang="en-US" sz="1700" dirty="0"/>
          </a:p>
          <a:p>
            <a:pPr algn="l" lvl="1" indent="0" marL="0">
              <a:spcBef>
                <a:spcPts val="300"/>
              </a:spcBef>
              <a:buNone/>
            </a:pPr>
            <a:r>
              <a:rPr lang="en-US" sz="1400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• LLM provenance（ZKPROV, arXiv 2506.20915）</a:t>
            </a:r>
            <a:endParaRPr lang="en-US" sz="1700" dirty="0"/>
          </a:p>
          <a:p>
            <a:pPr algn="l" indent="0" marL="0">
              <a:buNone/>
            </a:pPr>
            <a:endParaRPr lang="en-US" sz="1700" dirty="0"/>
          </a:p>
          <a:p>
            <a:pPr algn="l" indent="0" marL="0">
              <a:spcBef>
                <a:spcPts val="600"/>
              </a:spcBef>
              <a:buNone/>
            </a:pPr>
            <a:r>
              <a:rPr lang="en-US" sz="1700" b="1" dirty="0">
                <a:solidFill>
                  <a:srgbClr val="3E7E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■ しかし，全ての state transition を 1 つの SNARK で証明するのは非現実的</a:t>
            </a:r>
            <a:endParaRPr lang="en-US" sz="1700" dirty="0"/>
          </a:p>
          <a:p>
            <a:pPr algn="l" lvl="1" indent="0" marL="0">
              <a:spcBef>
                <a:spcPts val="300"/>
              </a:spcBef>
              <a:buNone/>
            </a:pPr>
            <a:r>
              <a:rPr lang="en-US" sz="1400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• 巨大な回路は prover のメモリと時間が破綻する</a:t>
            </a:r>
            <a:endParaRPr lang="en-US" sz="1700" dirty="0"/>
          </a:p>
          <a:p>
            <a:pPr algn="l" lvl="1" indent="0" marL="0">
              <a:spcBef>
                <a:spcPts val="300"/>
              </a:spcBef>
              <a:buNone/>
            </a:pPr>
            <a:r>
              <a:rPr lang="en-US" sz="1400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• 数百万ステップの EVM 実行を monolithic に証明できない</a:t>
            </a:r>
            <a:endParaRPr lang="en-US" sz="1700" dirty="0"/>
          </a:p>
          <a:p>
            <a:pPr algn="l" indent="0" marL="0">
              <a:buNone/>
            </a:pPr>
            <a:endParaRPr lang="en-US" sz="1700" dirty="0"/>
          </a:p>
          <a:p>
            <a:pPr algn="l" indent="0" marL="0">
              <a:spcBef>
                <a:spcPts val="600"/>
              </a:spcBef>
              <a:buNone/>
            </a:pPr>
            <a:r>
              <a:rPr lang="en-US" sz="1700" b="1" dirty="0">
                <a:solidFill>
                  <a:srgbClr val="3E7E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■ 解決策 ── 「インクリメンタルに証明を更新する」フレームワーク</a:t>
            </a:r>
            <a:endParaRPr lang="en-US" sz="1700" dirty="0"/>
          </a:p>
          <a:p>
            <a:pPr algn="l" lvl="1" indent="0" marL="0">
              <a:spcBef>
                <a:spcPts val="300"/>
              </a:spcBef>
              <a:buNone/>
            </a:pPr>
            <a:r>
              <a:rPr lang="en-US" sz="1400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• 各ステップの結果を 1 ステップずつ証明していく</a:t>
            </a:r>
            <a:endParaRPr lang="en-US" sz="1700" dirty="0"/>
          </a:p>
          <a:p>
            <a:pPr algn="l" lvl="1" indent="0" marL="0">
              <a:spcBef>
                <a:spcPts val="300"/>
              </a:spcBef>
              <a:buNone/>
            </a:pPr>
            <a:r>
              <a:rPr lang="en-US" sz="1400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• 最終ステップの証明が，全計算の正当性を代表する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93192" y="6601968"/>
            <a:ext cx="53949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826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12648"/>
          </a:xfrm>
          <a:prstGeom prst="rect">
            <a:avLst/>
          </a:prstGeom>
          <a:solidFill>
            <a:srgbClr val="F3F4F6"/>
          </a:solidFill>
          <a:ln/>
        </p:spPr>
      </p:sp>
      <p:sp>
        <p:nvSpPr>
          <p:cNvPr id="3" name="Text 1"/>
          <p:cNvSpPr/>
          <p:nvPr/>
        </p:nvSpPr>
        <p:spPr>
          <a:xfrm>
            <a:off x="393192" y="91440"/>
            <a:ext cx="8357616" cy="4297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282629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zk-SNARK の基本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93192" y="813816"/>
            <a:ext cx="64008" cy="274320"/>
          </a:xfrm>
          <a:prstGeom prst="rect">
            <a:avLst/>
          </a:prstGeom>
          <a:solidFill>
            <a:srgbClr val="3E7EC7"/>
          </a:solidFill>
          <a:ln/>
        </p:spPr>
      </p:sp>
      <p:sp>
        <p:nvSpPr>
          <p:cNvPr id="5" name="Text 3"/>
          <p:cNvSpPr/>
          <p:nvPr/>
        </p:nvSpPr>
        <p:spPr>
          <a:xfrm>
            <a:off x="576072" y="786384"/>
            <a:ext cx="817473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3E7E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zk-SNARK = Zero-Knowledge Succinct Non-Interactive ARgument of Knowledge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393192" y="1225296"/>
            <a:ext cx="8284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zk-SNARK</a:t>
            </a:r>
            <a:pPr algn="l" indent="0" marL="0">
              <a:buNone/>
            </a:pPr>
            <a:r>
              <a:rPr lang="en-US" sz="1600" b="1" dirty="0">
                <a:solidFill>
                  <a:srgbClr val="3E7E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（Zero-Knowledge Succinct Non-Interactive ARgument of Knowledge）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393192" y="1682496"/>
            <a:ext cx="8284464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証明したい命題 x と，証明者だけが知っている証拠 ω（witness）に対し，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Verify(vk, x, π) → {0,1} によって誰でも検証できる小さな証明 π を生成する暗号プロトコル。</a:t>
            </a:r>
            <a:endParaRPr lang="en-US" sz="1300" dirty="0"/>
          </a:p>
          <a:p>
            <a:pPr algn="l" indent="0" marL="0">
              <a:buNone/>
            </a:pP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■ 満たすべき 3 性質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・ Completeness（完全性）── 真の命題は真と証明される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・ Soundness（健全性）── 偽の命題は偽と判定される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・ Zero-Knowledge（ゼロ知識性）── 命題の真偽以外は何も漏れない</a:t>
            </a:r>
            <a:endParaRPr lang="en-US" sz="1300" dirty="0"/>
          </a:p>
          <a:p>
            <a:pPr algn="l" indent="0" marL="0">
              <a:buNone/>
            </a:pP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■ 主な既存 SNARK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・ Groth16 ── 証明サイズ最小，trusted setup が必要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・ PLONK ── universal setup，Plonkish arithmetization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・ STARK ── trusted setup 不要，post-quantum 安全性</a:t>
            </a:r>
            <a:endParaRPr lang="en-US" sz="1300" dirty="0"/>
          </a:p>
          <a:p>
            <a:pPr algn="l" indent="0" marL="0">
              <a:buNone/>
            </a:pP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■ HyperNova は SNARK そのものではなく「SNARK の合成法」を提案する論文。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93192" y="6601968"/>
            <a:ext cx="53949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826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12648"/>
          </a:xfrm>
          <a:prstGeom prst="rect">
            <a:avLst/>
          </a:prstGeom>
          <a:solidFill>
            <a:srgbClr val="F3F4F6"/>
          </a:solidFill>
          <a:ln/>
        </p:spPr>
      </p:sp>
      <p:sp>
        <p:nvSpPr>
          <p:cNvPr id="3" name="Text 1"/>
          <p:cNvSpPr/>
          <p:nvPr/>
        </p:nvSpPr>
        <p:spPr>
          <a:xfrm>
            <a:off x="393192" y="91440"/>
            <a:ext cx="8357616" cy="4297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282629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制約システムの比較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93192" y="813816"/>
            <a:ext cx="64008" cy="274320"/>
          </a:xfrm>
          <a:prstGeom prst="rect">
            <a:avLst/>
          </a:prstGeom>
          <a:solidFill>
            <a:srgbClr val="3E7EC7"/>
          </a:solidFill>
          <a:ln/>
        </p:spPr>
      </p:sp>
      <p:sp>
        <p:nvSpPr>
          <p:cNvPr id="5" name="Text 3"/>
          <p:cNvSpPr/>
          <p:nvPr/>
        </p:nvSpPr>
        <p:spPr>
          <a:xfrm>
            <a:off x="576072" y="786384"/>
            <a:ext cx="817473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3E7E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R1CS / Plonkish / AIR / CCS ── それぞれ独立して発展</a:t>
            </a:r>
            <a:endParaRPr lang="en-US" sz="18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93192" y="1225296"/>
          <a:ext cx="493776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920240"/>
                <a:gridCol w="640080"/>
                <a:gridCol w="118872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システム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E7EC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制約の形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E7EC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自由度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E7EC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代表実装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E7EC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8262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R1CS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8262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二次 (a·b = c) のみ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8262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低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8262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Groth16, Nova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8262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Plonkish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8262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高次ゲート + コピー制約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8262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中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8262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PLONK, Halo2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8262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AIR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8262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トレース + 遷移多項式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8262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中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8262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STARK, RISC0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8262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CCS（本論文）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8262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任意次数を統一的に表現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8262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高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8262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HyperNova, ProtoStar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486400" y="1225296"/>
            <a:ext cx="320040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600"/>
              </a:spcBef>
              <a:buNone/>
            </a:pPr>
            <a:r>
              <a:rPr lang="en-US" sz="1500" b="1" dirty="0">
                <a:solidFill>
                  <a:srgbClr val="3E7E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■ 考察</a:t>
            </a:r>
            <a:endParaRPr lang="en-US" sz="1500" dirty="0"/>
          </a:p>
          <a:p>
            <a:pPr algn="l" lvl="1" indent="0" marL="0">
              <a:spcBef>
                <a:spcPts val="300"/>
              </a:spcBef>
              <a:buNone/>
            </a:pPr>
            <a:r>
              <a:rPr lang="en-US" sz="1200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• それぞれ独立したツールで実装されてきた</a:t>
            </a:r>
            <a:endParaRPr lang="en-US" sz="1500" dirty="0"/>
          </a:p>
          <a:p>
            <a:pPr algn="l" lvl="1" indent="0" marL="0">
              <a:spcBef>
                <a:spcPts val="300"/>
              </a:spcBef>
              <a:buNone/>
            </a:pPr>
            <a:r>
              <a:rPr lang="en-US" sz="1200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• 回路表現が異なるため，相互運用が困難</a:t>
            </a:r>
            <a:endParaRPr lang="en-US" sz="1500" dirty="0"/>
          </a:p>
          <a:p>
            <a:pPr algn="l" lvl="1" indent="0" marL="0">
              <a:spcBef>
                <a:spcPts val="300"/>
              </a:spcBef>
              <a:buNone/>
            </a:pPr>
            <a:r>
              <a:rPr lang="en-US" sz="1200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• CCS = R1CS / Plonkish / AIR を subsume する表現</a:t>
            </a:r>
            <a:endParaRPr lang="en-US" sz="1500" dirty="0"/>
          </a:p>
          <a:p>
            <a:pPr algn="l" lvl="1" indent="0" marL="0">
              <a:spcBef>
                <a:spcPts val="300"/>
              </a:spcBef>
              <a:buNone/>
            </a:pPr>
            <a:r>
              <a:rPr lang="en-US" sz="1200" b="1" dirty="0">
                <a:solidFill>
                  <a:srgbClr val="3E7E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• folding scheme を一度作れば，全ての形式に使える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393192" y="5943600"/>
            <a:ext cx="82844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CCS = Customizable Constraint System （Setty et al., ePrint 2023/552）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393192" y="6601968"/>
            <a:ext cx="53949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826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12648"/>
          </a:xfrm>
          <a:prstGeom prst="rect">
            <a:avLst/>
          </a:prstGeom>
          <a:solidFill>
            <a:srgbClr val="F3F4F6"/>
          </a:solidFill>
          <a:ln/>
        </p:spPr>
      </p:sp>
      <p:sp>
        <p:nvSpPr>
          <p:cNvPr id="3" name="Text 1"/>
          <p:cNvSpPr/>
          <p:nvPr/>
        </p:nvSpPr>
        <p:spPr>
          <a:xfrm>
            <a:off x="393192" y="91440"/>
            <a:ext cx="8357616" cy="4297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282629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Recursive SNARK と IVC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93192" y="813816"/>
            <a:ext cx="64008" cy="274320"/>
          </a:xfrm>
          <a:prstGeom prst="rect">
            <a:avLst/>
          </a:prstGeom>
          <a:solidFill>
            <a:srgbClr val="3E7EC7"/>
          </a:solidFill>
          <a:ln/>
        </p:spPr>
      </p:sp>
      <p:sp>
        <p:nvSpPr>
          <p:cNvPr id="5" name="Text 3"/>
          <p:cNvSpPr/>
          <p:nvPr/>
        </p:nvSpPr>
        <p:spPr>
          <a:xfrm>
            <a:off x="576072" y="786384"/>
            <a:ext cx="817473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3E7E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各ステップの証明を次ステップへ「圧縮」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1463040"/>
            <a:ext cx="1371600" cy="594360"/>
          </a:xfrm>
          <a:prstGeom prst="rect">
            <a:avLst/>
          </a:prstGeom>
          <a:solidFill>
            <a:srgbClr val="DBEAFE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463040"/>
            <a:ext cx="137160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Step 1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(F1)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2560320"/>
            <a:ext cx="1371600" cy="594360"/>
          </a:xfrm>
          <a:prstGeom prst="rect">
            <a:avLst/>
          </a:prstGeom>
          <a:solidFill>
            <a:srgbClr val="E8EFF8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2560320"/>
            <a:ext cx="137160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E7E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proof (1)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68680" y="2057400"/>
            <a:ext cx="548640" cy="411480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2148840" y="1463040"/>
            <a:ext cx="1371600" cy="594360"/>
          </a:xfrm>
          <a:prstGeom prst="rect">
            <a:avLst/>
          </a:prstGeom>
          <a:solidFill>
            <a:srgbClr val="DBEAFE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148840" y="1463040"/>
            <a:ext cx="137160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Step 2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(F2)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148840" y="2560320"/>
            <a:ext cx="1371600" cy="594360"/>
          </a:xfrm>
          <a:prstGeom prst="rect">
            <a:avLst/>
          </a:prstGeom>
          <a:solidFill>
            <a:srgbClr val="E8EFF8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148840" y="2560320"/>
            <a:ext cx="137160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E7E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proof (2)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2560320" y="2057400"/>
            <a:ext cx="548640" cy="411480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3840480" y="1463040"/>
            <a:ext cx="1371600" cy="594360"/>
          </a:xfrm>
          <a:prstGeom prst="rect">
            <a:avLst/>
          </a:prstGeom>
          <a:solidFill>
            <a:srgbClr val="DBEAFE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840480" y="1463040"/>
            <a:ext cx="137160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Step 3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(F3)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840480" y="2560320"/>
            <a:ext cx="1371600" cy="594360"/>
          </a:xfrm>
          <a:prstGeom prst="rect">
            <a:avLst/>
          </a:prstGeom>
          <a:solidFill>
            <a:srgbClr val="E8EFF8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840480" y="2560320"/>
            <a:ext cx="137160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E7E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proof (3)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251960" y="2057400"/>
            <a:ext cx="548640" cy="411480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5532120" y="1463040"/>
            <a:ext cx="1371600" cy="594360"/>
          </a:xfrm>
          <a:prstGeom prst="rect">
            <a:avLst/>
          </a:prstGeom>
          <a:solidFill>
            <a:srgbClr val="DBEAFE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532120" y="1463040"/>
            <a:ext cx="137160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Step 4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(F4)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532120" y="2560320"/>
            <a:ext cx="1371600" cy="594360"/>
          </a:xfrm>
          <a:prstGeom prst="rect">
            <a:avLst/>
          </a:prstGeom>
          <a:solidFill>
            <a:srgbClr val="E8EFF8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532120" y="2560320"/>
            <a:ext cx="137160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E7E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proof (4)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5943600" y="2057400"/>
            <a:ext cx="548640" cy="411480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1828800" y="2331720"/>
            <a:ext cx="274320" cy="0"/>
          </a:xfrm>
          <a:prstGeom prst="line">
            <a:avLst/>
          </a:prstGeom>
          <a:noFill/>
          <a:ln w="19050">
            <a:solidFill>
              <a:srgbClr val="3E7EC7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3520440" y="2331720"/>
            <a:ext cx="274320" cy="0"/>
          </a:xfrm>
          <a:prstGeom prst="line">
            <a:avLst/>
          </a:prstGeom>
          <a:noFill/>
          <a:ln w="19050">
            <a:solidFill>
              <a:srgbClr val="3E7EC7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5212080" y="2331720"/>
            <a:ext cx="274320" cy="0"/>
          </a:xfrm>
          <a:prstGeom prst="line">
            <a:avLst/>
          </a:prstGeom>
          <a:noFill/>
          <a:ln w="19050">
            <a:solidFill>
              <a:srgbClr val="3E7EC7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6583680" y="2560320"/>
            <a:ext cx="1554480" cy="594360"/>
          </a:xfrm>
          <a:prstGeom prst="rect">
            <a:avLst/>
          </a:prstGeom>
          <a:solidFill>
            <a:srgbClr val="F3F4F6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583680" y="2560320"/>
            <a:ext cx="155448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最終 proof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457200" y="365760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E7E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IVC = Incrementally Verifiable Computation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57200" y="4160520"/>
            <a:ext cx="7772400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57200" y="4160520"/>
            <a:ext cx="7772400" cy="10058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次のステップを実行した + 過去の証明を継承した を一体で証明する。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最終 proof だけ見れば，全ステップの正当性が検証できる。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457200" y="5394960"/>
            <a:ext cx="7772400" cy="548640"/>
          </a:xfrm>
          <a:prstGeom prst="rect">
            <a:avLst/>
          </a:prstGeom>
          <a:solidFill>
            <a:srgbClr val="F3F4F6"/>
          </a:solidFill>
          <a:ln w="6350">
            <a:solidFill>
              <a:srgbClr val="F3F4F6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7200" y="5394960"/>
            <a:ext cx="77724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HyperNova はこの IVC フレームワークを CCS 上で効率化したもの。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393192" y="6601968"/>
            <a:ext cx="53949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826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12648"/>
          </a:xfrm>
          <a:prstGeom prst="rect">
            <a:avLst/>
          </a:prstGeom>
          <a:solidFill>
            <a:srgbClr val="F3F4F6"/>
          </a:solidFill>
          <a:ln/>
        </p:spPr>
      </p:sp>
      <p:sp>
        <p:nvSpPr>
          <p:cNvPr id="3" name="Text 1"/>
          <p:cNvSpPr/>
          <p:nvPr/>
        </p:nvSpPr>
        <p:spPr>
          <a:xfrm>
            <a:off x="393192" y="91440"/>
            <a:ext cx="8357616" cy="4297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282629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Folding Scheme と Nova ── 先行研究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93192" y="813816"/>
            <a:ext cx="64008" cy="274320"/>
          </a:xfrm>
          <a:prstGeom prst="rect">
            <a:avLst/>
          </a:prstGeom>
          <a:solidFill>
            <a:srgbClr val="3E7EC7"/>
          </a:solidFill>
          <a:ln/>
        </p:spPr>
      </p:sp>
      <p:sp>
        <p:nvSpPr>
          <p:cNvPr id="5" name="Text 3"/>
          <p:cNvSpPr/>
          <p:nvPr/>
        </p:nvSpPr>
        <p:spPr>
          <a:xfrm>
            <a:off x="576072" y="786384"/>
            <a:ext cx="817473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3E7E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「2 つの NP instance を 1 つに折り畳む」暗号プリミティブ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393192" y="1225296"/>
            <a:ext cx="8284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Folding Scheme</a:t>
            </a:r>
            <a:pPr algn="l" indent="0" marL="0">
              <a:buNone/>
            </a:pPr>
            <a:r>
              <a:rPr lang="en-US" sz="1600" b="1" dirty="0">
                <a:solidFill>
                  <a:srgbClr val="3E7E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（2 つの instance を 1 つの instance に reduce する暗号プリミティブ）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393192" y="1682496"/>
            <a:ext cx="8284464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■ アイデア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・ NP 関係 R の instance 2 つ (u₁, u₂) を，新しい instance u が満たす式に reduce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・ u₁ が真 ⟺ u₂ が真 ⟺ u が真 ── 等価性を保つ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・ 並列で複数の証明を 1 つに集約できる</a:t>
            </a:r>
            <a:endParaRPr lang="en-US" sz="1300" dirty="0"/>
          </a:p>
          <a:p>
            <a:pPr algn="l" indent="0" marL="0">
              <a:buNone/>
            </a:pP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■ Nova（CRYPTO 2022）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・ folding scheme を SNARK の再帰に使う初の構成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・ 双子楕円曲線（Pallas / Vesta など）のサイクル上で動作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・ R1CS 専用 ── 他の制約システムではそのまま使えない</a:t>
            </a:r>
            <a:endParaRPr lang="en-US" sz="1300" dirty="0"/>
          </a:p>
          <a:p>
            <a:pPr algn="l" indent="0" marL="0">
              <a:buNone/>
            </a:pP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■ Nova の制約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・ prover のコストが「ステップ回路サイズ |C|」に比例してしまう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・ Plonkish / AIR 上で同じ folding をすると効率が大きく落ちる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・ R1CS に閉じているため，各 SNARK 系で個別に最適化が必要だった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93192" y="6601968"/>
            <a:ext cx="53949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826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12648"/>
          </a:xfrm>
          <a:prstGeom prst="rect">
            <a:avLst/>
          </a:prstGeom>
          <a:solidFill>
            <a:srgbClr val="F3F4F6"/>
          </a:solidFill>
          <a:ln/>
        </p:spPr>
      </p:sp>
      <p:sp>
        <p:nvSpPr>
          <p:cNvPr id="3" name="Text 1"/>
          <p:cNvSpPr/>
          <p:nvPr/>
        </p:nvSpPr>
        <p:spPr>
          <a:xfrm>
            <a:off x="393192" y="91440"/>
            <a:ext cx="8357616" cy="4297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282629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HyperNova の提案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93192" y="813816"/>
            <a:ext cx="64008" cy="274320"/>
          </a:xfrm>
          <a:prstGeom prst="rect">
            <a:avLst/>
          </a:prstGeom>
          <a:solidFill>
            <a:srgbClr val="3E7EC7"/>
          </a:solidFill>
          <a:ln/>
        </p:spPr>
      </p:sp>
      <p:sp>
        <p:nvSpPr>
          <p:cNvPr id="5" name="Text 3"/>
          <p:cNvSpPr/>
          <p:nvPr/>
        </p:nvSpPr>
        <p:spPr>
          <a:xfrm>
            <a:off x="576072" y="786384"/>
            <a:ext cx="817473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3E7E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CCS に対する folding scheme + multi-folding ── 一般化された IVC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393192" y="1225296"/>
            <a:ext cx="8284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HyperNova</a:t>
            </a:r>
            <a:pPr algn="l" indent="0" marL="0">
              <a:buNone/>
            </a:pPr>
            <a:r>
              <a:rPr lang="en-US" sz="1600" b="1" dirty="0">
                <a:solidFill>
                  <a:srgbClr val="3E7E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（CCS に対する folding scheme（Kothapalli &amp; Setty, CRYPTO 2024））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393192" y="1682496"/>
            <a:ext cx="8284464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■ 何が新しいか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・ R1CS に限定されず，CCS（R1CS / Plonkish / AIR を subsume）上で直接 folding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・ 各ステップの回路を表現する「constraint system」の形に依存しない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・ 高次の non-uniform constraint（ステップごとに回路が異なる）を扱う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■ 性能上の主張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・ Prover cost が「回路内の変数数 N」の 1 回の MSM で完了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・─ Nova は各ステップで回路全体 |C| に比例した prover が必要だった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・─ HyperNova は「呼ばれた命令の回路サイズ」に比例する à la carte コスト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・─ zkVM のように実行ステップごとに命令が変わるケースで特に有利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■ 同時に提供される副次的な貢献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・ Multi-folding（異なる NP relation 同士の fold）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・ CycleFold（双子楕円曲線サイクルの汎用化）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・ NovaBlindFold（追加 SNARK なしで ZK を加える技法）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93192" y="6601968"/>
            <a:ext cx="53949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826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12648"/>
          </a:xfrm>
          <a:prstGeom prst="rect">
            <a:avLst/>
          </a:prstGeom>
          <a:solidFill>
            <a:srgbClr val="F3F4F6"/>
          </a:solidFill>
          <a:ln/>
        </p:spPr>
      </p:sp>
      <p:sp>
        <p:nvSpPr>
          <p:cNvPr id="3" name="Text 1"/>
          <p:cNvSpPr/>
          <p:nvPr/>
        </p:nvSpPr>
        <p:spPr>
          <a:xfrm>
            <a:off x="393192" y="91440"/>
            <a:ext cx="8357616" cy="4297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282629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主な技術貢献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93192" y="813816"/>
            <a:ext cx="64008" cy="274320"/>
          </a:xfrm>
          <a:prstGeom prst="rect">
            <a:avLst/>
          </a:prstGeom>
          <a:solidFill>
            <a:srgbClr val="3E7EC7"/>
          </a:solidFill>
          <a:ln/>
        </p:spPr>
      </p:sp>
      <p:sp>
        <p:nvSpPr>
          <p:cNvPr id="5" name="Text 3"/>
          <p:cNvSpPr/>
          <p:nvPr/>
        </p:nvSpPr>
        <p:spPr>
          <a:xfrm>
            <a:off x="576072" y="786384"/>
            <a:ext cx="817473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3E7E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CCS folding を中心に，4 つの副次的貢献を同時に提供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393192" y="1225296"/>
            <a:ext cx="8284464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600"/>
              </a:spcBef>
              <a:buNone/>
            </a:pPr>
            <a:r>
              <a:rPr lang="en-US" sz="1600" b="1" dirty="0">
                <a:solidFill>
                  <a:srgbClr val="3E7E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■ 1. CCS に対する folding scheme</a:t>
            </a:r>
            <a:endParaRPr lang="en-US" sz="1600" dirty="0"/>
          </a:p>
          <a:p>
            <a:pPr algn="l" lvl="1" indent="0" marL="0">
              <a:spcBef>
                <a:spcPts val="300"/>
              </a:spcBef>
              <a:buNone/>
            </a:pPr>
            <a:r>
              <a:rPr lang="en-US" sz="1300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• R1CS / Plonkish / AIR を統一的に扱える</a:t>
            </a:r>
            <a:endParaRPr lang="en-US" sz="1600" dirty="0"/>
          </a:p>
          <a:p>
            <a:pPr algn="l" lvl="1" indent="0" marL="0">
              <a:spcBef>
                <a:spcPts val="300"/>
              </a:spcBef>
              <a:buNone/>
            </a:pPr>
            <a:r>
              <a:rPr lang="en-US" sz="1300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• prover cost = 1 回の MSM（変数数に比例）</a:t>
            </a:r>
            <a:endParaRPr lang="en-US" sz="1600" dirty="0"/>
          </a:p>
          <a:p>
            <a:pPr algn="l" lvl="1" indent="0" marL="0">
              <a:spcBef>
                <a:spcPts val="300"/>
              </a:spcBef>
              <a:buNone/>
            </a:pPr>
            <a:r>
              <a:rPr lang="en-US" sz="1300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• Nova の |C| 比例コストを CCS の N 比例に改善</a:t>
            </a:r>
            <a:endParaRPr lang="en-US" sz="1600" dirty="0"/>
          </a:p>
          <a:p>
            <a:pPr algn="l" indent="0" marL="0">
              <a:buNone/>
            </a:pPr>
            <a:endParaRPr lang="en-US" sz="1600" dirty="0"/>
          </a:p>
          <a:p>
            <a:pPr algn="l" indent="0" marL="0">
              <a:spcBef>
                <a:spcPts val="600"/>
              </a:spcBef>
              <a:buNone/>
            </a:pPr>
            <a:r>
              <a:rPr lang="en-US" sz="1600" b="1" dirty="0">
                <a:solidFill>
                  <a:srgbClr val="3E7E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■ 2. Multi-folding scheme</a:t>
            </a:r>
            <a:endParaRPr lang="en-US" sz="1600" dirty="0"/>
          </a:p>
          <a:p>
            <a:pPr algn="l" lvl="1" indent="0" marL="0">
              <a:spcBef>
                <a:spcPts val="300"/>
              </a:spcBef>
              <a:buNone/>
            </a:pPr>
            <a:r>
              <a:rPr lang="en-US" sz="1300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• 異なる構造を持つ NP relation を同時に 1 つの instance に fold</a:t>
            </a:r>
            <a:endParaRPr lang="en-US" sz="1600" dirty="0"/>
          </a:p>
          <a:p>
            <a:pPr algn="l" lvl="1" indent="0" marL="0">
              <a:spcBef>
                <a:spcPts val="300"/>
              </a:spcBef>
              <a:buNone/>
            </a:pPr>
            <a:r>
              <a:rPr lang="en-US" sz="1300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• ─ 例: CCS instance + LCCS instance を 1 つの LCCS に集約</a:t>
            </a:r>
            <a:endParaRPr lang="en-US" sz="1600" dirty="0"/>
          </a:p>
          <a:p>
            <a:pPr algn="l" lvl="1" indent="0" marL="0">
              <a:spcBef>
                <a:spcPts val="300"/>
              </a:spcBef>
              <a:buNone/>
            </a:pPr>
            <a:r>
              <a:rPr lang="en-US" sz="1300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• ─ 非均一 IVC（SuperNova 系）の自然な一般化</a:t>
            </a:r>
            <a:endParaRPr lang="en-US" sz="1600" dirty="0"/>
          </a:p>
          <a:p>
            <a:pPr algn="l" indent="0" marL="0">
              <a:buNone/>
            </a:pPr>
            <a:endParaRPr lang="en-US" sz="1600" dirty="0"/>
          </a:p>
          <a:p>
            <a:pPr algn="l" indent="0" marL="0">
              <a:spcBef>
                <a:spcPts val="600"/>
              </a:spcBef>
              <a:buNone/>
            </a:pPr>
            <a:r>
              <a:rPr lang="en-US" sz="1600" b="1" dirty="0">
                <a:solidFill>
                  <a:srgbClr val="3E7E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■ 3. CycleFold ── 楕円曲線サイクルの汎用化</a:t>
            </a:r>
            <a:endParaRPr lang="en-US" sz="1600" dirty="0"/>
          </a:p>
          <a:p>
            <a:pPr algn="l" lvl="1" indent="0" marL="0">
              <a:spcBef>
                <a:spcPts val="300"/>
              </a:spcBef>
              <a:buNone/>
            </a:pPr>
            <a:r>
              <a:rPr lang="en-US" sz="1300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• 任意の modern folding-scheme ベース再帰 SNARK に適用可</a:t>
            </a:r>
            <a:endParaRPr lang="en-US" sz="1600" dirty="0"/>
          </a:p>
          <a:p>
            <a:pPr algn="l" lvl="1" indent="0" marL="0">
              <a:spcBef>
                <a:spcPts val="300"/>
              </a:spcBef>
              <a:buNone/>
            </a:pPr>
            <a:r>
              <a:rPr lang="en-US" sz="1300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• ─ Nova / SuperNova / HyperNova いずれでも再利用可能</a:t>
            </a:r>
            <a:endParaRPr lang="en-US" sz="1600" dirty="0"/>
          </a:p>
          <a:p>
            <a:pPr algn="l" lvl="1" indent="0" marL="0">
              <a:spcBef>
                <a:spcPts val="300"/>
              </a:spcBef>
              <a:buNone/>
            </a:pPr>
            <a:r>
              <a:rPr lang="en-US" sz="1300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• ─ IVC を楕円曲線サイクル上で構成するときの共通インフラ</a:t>
            </a:r>
            <a:endParaRPr lang="en-US" sz="1600" dirty="0"/>
          </a:p>
          <a:p>
            <a:pPr algn="l" indent="0" marL="0">
              <a:buNone/>
            </a:pPr>
            <a:endParaRPr lang="en-US" sz="1600" dirty="0"/>
          </a:p>
          <a:p>
            <a:pPr algn="l" indent="0" marL="0">
              <a:spcBef>
                <a:spcPts val="600"/>
              </a:spcBef>
              <a:buNone/>
            </a:pPr>
            <a:r>
              <a:rPr lang="en-US" sz="1600" b="1" dirty="0">
                <a:solidFill>
                  <a:srgbClr val="3E7E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■ 4. NovaBlindFold ── ZK を SNARK なしで追加</a:t>
            </a:r>
            <a:endParaRPr lang="en-US" sz="1600" dirty="0"/>
          </a:p>
          <a:p>
            <a:pPr algn="l" lvl="1" indent="0" marL="0">
              <a:spcBef>
                <a:spcPts val="300"/>
              </a:spcBef>
              <a:buNone/>
            </a:pPr>
            <a:r>
              <a:rPr lang="en-US" sz="1300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• Nova 自身が持つ blinding 性質を利用</a:t>
            </a:r>
            <a:endParaRPr lang="en-US" sz="1600" dirty="0"/>
          </a:p>
          <a:p>
            <a:pPr algn="l" lvl="1" indent="0" marL="0">
              <a:spcBef>
                <a:spcPts val="300"/>
              </a:spcBef>
              <a:buNone/>
            </a:pPr>
            <a:r>
              <a:rPr lang="en-US" sz="1300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• ─ 別途 zk-SNARK を被せずに IVC 証明をゼロ知識化</a:t>
            </a:r>
            <a:endParaRPr lang="en-US" sz="1600" dirty="0"/>
          </a:p>
          <a:p>
            <a:pPr algn="l" lvl="1" indent="0" marL="0">
              <a:spcBef>
                <a:spcPts val="300"/>
              </a:spcBef>
              <a:buNone/>
            </a:pPr>
            <a:r>
              <a:rPr lang="en-US" sz="1300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• ─ 実装コスト・回路サイズの双方を削減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393192" y="6601968"/>
            <a:ext cx="53949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826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12648"/>
          </a:xfrm>
          <a:prstGeom prst="rect">
            <a:avLst/>
          </a:prstGeom>
          <a:solidFill>
            <a:srgbClr val="F3F4F6"/>
          </a:solidFill>
          <a:ln/>
        </p:spPr>
      </p:sp>
      <p:sp>
        <p:nvSpPr>
          <p:cNvPr id="3" name="Text 1"/>
          <p:cNvSpPr/>
          <p:nvPr/>
        </p:nvSpPr>
        <p:spPr>
          <a:xfrm>
            <a:off x="393192" y="91440"/>
            <a:ext cx="8357616" cy="4297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282629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性能評価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93192" y="813816"/>
            <a:ext cx="64008" cy="274320"/>
          </a:xfrm>
          <a:prstGeom prst="rect">
            <a:avLst/>
          </a:prstGeom>
          <a:solidFill>
            <a:srgbClr val="3E7EC7"/>
          </a:solidFill>
          <a:ln/>
        </p:spPr>
      </p:sp>
      <p:sp>
        <p:nvSpPr>
          <p:cNvPr id="5" name="Text 3"/>
          <p:cNvSpPr/>
          <p:nvPr/>
        </p:nvSpPr>
        <p:spPr>
          <a:xfrm>
            <a:off x="576072" y="786384"/>
            <a:ext cx="817473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3E7E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prover cost を O(1) MSM に ── 既存 folding scheme との比較</a:t>
            </a:r>
            <a:endParaRPr lang="en-US" sz="18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93192" y="1225296"/>
          <a:ext cx="512064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188720"/>
                <a:gridCol w="1280160"/>
                <a:gridCol w="128016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項目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E7EC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Nova (CRYPTO 2022)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E7EC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SuperNova (2022)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E7EC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HyperNova (本論文)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E7EC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8262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対象制約系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8262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R1CS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8262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R1CS（非均一）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8262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CCS（R1CS / Plonkish / AIR）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8262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prover / step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8262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O(|C|) SM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8262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O(|step|) SM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8262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O(N) MSM（1 回）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8262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verifier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8262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一定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8262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一定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8262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一定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8262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trusted setup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8262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不要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8262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不要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8262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HyperKZG 利用時は必要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8262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サイクル曲線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8262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必要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8262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必要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8262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必要（CycleFold）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8262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非均一ステップ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8262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✗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8262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◎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8262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◎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8262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ZK 性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8262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別 SNARK が必要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8262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別 SNARK が必要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8262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NovaBlindFold で SNARK 不要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669280" y="1225296"/>
            <a:ext cx="301752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600"/>
              </a:spcBef>
              <a:buNone/>
            </a:pPr>
            <a:r>
              <a:rPr lang="en-US" sz="1500" b="1" dirty="0">
                <a:solidFill>
                  <a:srgbClr val="3E7E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■ 考察</a:t>
            </a:r>
            <a:endParaRPr lang="en-US" sz="1500" dirty="0"/>
          </a:p>
          <a:p>
            <a:pPr algn="l" lvl="1" indent="0" marL="0">
              <a:spcBef>
                <a:spcPts val="300"/>
              </a:spcBef>
              <a:buNone/>
            </a:pPr>
            <a:r>
              <a:rPr lang="en-US" sz="1200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• HyperNova は prover コストを「回路サイズ」から「実行命令の回路サイズ」に分離した</a:t>
            </a:r>
            <a:endParaRPr lang="en-US" sz="1500" dirty="0"/>
          </a:p>
          <a:p>
            <a:pPr algn="l" lvl="1" indent="0" marL="0">
              <a:spcBef>
                <a:spcPts val="300"/>
              </a:spcBef>
              <a:buNone/>
            </a:pPr>
            <a:r>
              <a:rPr lang="en-US" sz="1200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• zkVM / ZK-Rollup のように命令が混在する workload で特に有利</a:t>
            </a:r>
            <a:endParaRPr lang="en-US" sz="1500" dirty="0"/>
          </a:p>
          <a:p>
            <a:pPr algn="l" lvl="1" indent="0" marL="0">
              <a:spcBef>
                <a:spcPts val="300"/>
              </a:spcBef>
              <a:buNone/>
            </a:pPr>
            <a:r>
              <a:rPr lang="en-US" sz="1200" dirty="0">
                <a:solidFill>
                  <a:srgbClr val="C050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• 代償: HyperKZG に trusted setup，CycleFold 用の楕円曲線ペア</a:t>
            </a:r>
            <a:endParaRPr lang="en-US" sz="1500" dirty="0"/>
          </a:p>
          <a:p>
            <a:pPr algn="l" lvl="1" indent="0" marL="0">
              <a:spcBef>
                <a:spcPts val="300"/>
              </a:spcBef>
              <a:buNone/>
            </a:pPr>
            <a:r>
              <a:rPr lang="en-US" sz="1200" b="1" dirty="0">
                <a:solidFill>
                  <a:srgbClr val="3E7E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• NovaBlindFold で別 SNARK 不要 ── 全体の回路サイズを縮小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393192" y="6080760"/>
            <a:ext cx="82844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MSM: Multi-Scalar Multiplication  /  SM: Scalar Multiplication  /  N: 回路の変数数  /  |C|: 回路全体のサイズ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393192" y="6601968"/>
            <a:ext cx="53949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826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12648"/>
          </a:xfrm>
          <a:prstGeom prst="rect">
            <a:avLst/>
          </a:prstGeom>
          <a:solidFill>
            <a:srgbClr val="F3F4F6"/>
          </a:solidFill>
          <a:ln/>
        </p:spPr>
      </p:sp>
      <p:sp>
        <p:nvSpPr>
          <p:cNvPr id="3" name="Text 1"/>
          <p:cNvSpPr/>
          <p:nvPr/>
        </p:nvSpPr>
        <p:spPr>
          <a:xfrm>
            <a:off x="393192" y="91440"/>
            <a:ext cx="8357616" cy="4297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282629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HyperNova の応用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93192" y="813816"/>
            <a:ext cx="64008" cy="274320"/>
          </a:xfrm>
          <a:prstGeom prst="rect">
            <a:avLst/>
          </a:prstGeom>
          <a:solidFill>
            <a:srgbClr val="3E7EC7"/>
          </a:solidFill>
          <a:ln/>
        </p:spPr>
      </p:sp>
      <p:sp>
        <p:nvSpPr>
          <p:cNvPr id="5" name="Text 3"/>
          <p:cNvSpPr/>
          <p:nvPr/>
        </p:nvSpPr>
        <p:spPr>
          <a:xfrm>
            <a:off x="576072" y="786384"/>
            <a:ext cx="817473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3E7E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「長い計算の証明」が必要な領域で広く使われる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393192" y="1325880"/>
            <a:ext cx="4023360" cy="457200"/>
          </a:xfrm>
          <a:prstGeom prst="rect">
            <a:avLst/>
          </a:prstGeom>
          <a:solidFill>
            <a:srgbClr val="DBEAFE"/>
          </a:solidFill>
          <a:ln w="6350">
            <a:solidFill>
              <a:srgbClr val="DBEAF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93192" y="1325880"/>
            <a:ext cx="402336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zkVM（RISC-V / EVM の実行証明）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93192" y="1828800"/>
            <a:ext cx="4023360" cy="1828800"/>
          </a:xfrm>
          <a:prstGeom prst="rect">
            <a:avLst/>
          </a:prstGeom>
          <a:solidFill>
            <a:srgbClr val="FFFFFF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93192" y="1828800"/>
            <a:ext cx="4023360" cy="1828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各命令の回路サイズに比例する prover で VM の実行全体を表せるため，最適な IVC バックエンドとして HyperNova 系が採用されつつある。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636008" y="1325880"/>
            <a:ext cx="4023360" cy="457200"/>
          </a:xfrm>
          <a:prstGeom prst="rect">
            <a:avLst/>
          </a:prstGeom>
          <a:solidFill>
            <a:srgbClr val="E8EFF8"/>
          </a:solidFill>
          <a:ln w="6350">
            <a:solidFill>
              <a:srgbClr val="E8EFF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36008" y="1325880"/>
            <a:ext cx="402336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ZK-Rollup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636008" y="1828800"/>
            <a:ext cx="4023360" cy="1828800"/>
          </a:xfrm>
          <a:prstGeom prst="rect">
            <a:avLst/>
          </a:prstGeom>
          <a:solidFill>
            <a:srgbClr val="FFFFFF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36008" y="1828800"/>
            <a:ext cx="4023360" cy="1828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Polygon zkEVM, zkSync などの Validity Proof 系 rollup のバックエンド候補。トランザクション集約のコストを抑えられる。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93192" y="3840480"/>
            <a:ext cx="4023360" cy="457200"/>
          </a:xfrm>
          <a:prstGeom prst="rect">
            <a:avLst/>
          </a:prstGeom>
          <a:solidFill>
            <a:srgbClr val="FEF3C7"/>
          </a:solidFill>
          <a:ln w="6350">
            <a:solidFill>
              <a:srgbClr val="FEF3C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93192" y="3840480"/>
            <a:ext cx="402336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LLM provenance（ZKPROV）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93192" y="4343400"/>
            <a:ext cx="4023360" cy="1828800"/>
          </a:xfrm>
          <a:prstGeom prst="rect">
            <a:avLst/>
          </a:prstGeom>
          <a:solidFill>
            <a:srgbClr val="FFFFFF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93192" y="4343400"/>
            <a:ext cx="4023360" cy="1828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arXiv 2506.20915 で，各層の binding 制約を HyperNova で multi-fold し，1 つの succinct 証明に集約する手法が提案されている。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636008" y="3840480"/>
            <a:ext cx="4023360" cy="457200"/>
          </a:xfrm>
          <a:prstGeom prst="rect">
            <a:avLst/>
          </a:prstGeom>
          <a:solidFill>
            <a:srgbClr val="DCFCE7"/>
          </a:solidFill>
          <a:ln w="6350">
            <a:solidFill>
              <a:srgbClr val="DCFCE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636008" y="3840480"/>
            <a:ext cx="402336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信頼最小化クロスチェーンブリッジ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4636008" y="4343400"/>
            <a:ext cx="4023360" cy="1828800"/>
          </a:xfrm>
          <a:prstGeom prst="rect">
            <a:avLst/>
          </a:prstGeom>
          <a:solidFill>
            <a:srgbClr val="FFFFFF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36008" y="4343400"/>
            <a:ext cx="4023360" cy="1828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bridge 文献（HyperNova とは別系統・同名の Supra 製品）では ZKP を destination chain SC で検証するが，証明生成側に folding 系を使う構成も研究されている。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393192" y="6601968"/>
            <a:ext cx="53949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826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12648"/>
          </a:xfrm>
          <a:prstGeom prst="rect">
            <a:avLst/>
          </a:prstGeom>
          <a:solidFill>
            <a:srgbClr val="F3F4F6"/>
          </a:solidFill>
          <a:ln/>
        </p:spPr>
      </p:sp>
      <p:sp>
        <p:nvSpPr>
          <p:cNvPr id="3" name="Text 1"/>
          <p:cNvSpPr/>
          <p:nvPr/>
        </p:nvSpPr>
        <p:spPr>
          <a:xfrm>
            <a:off x="393192" y="91440"/>
            <a:ext cx="8357616" cy="4297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282629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限界と今後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93192" y="813816"/>
            <a:ext cx="64008" cy="274320"/>
          </a:xfrm>
          <a:prstGeom prst="rect">
            <a:avLst/>
          </a:prstGeom>
          <a:solidFill>
            <a:srgbClr val="3E7EC7"/>
          </a:solidFill>
          <a:ln/>
        </p:spPr>
      </p:sp>
      <p:sp>
        <p:nvSpPr>
          <p:cNvPr id="5" name="Text 3"/>
          <p:cNvSpPr/>
          <p:nvPr/>
        </p:nvSpPr>
        <p:spPr>
          <a:xfrm>
            <a:off x="576072" y="786384"/>
            <a:ext cx="817473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3E7E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「最も強い SNARK」ではなく「最も実用化に近い folding 系」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393192" y="1225296"/>
            <a:ext cx="4005072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600"/>
              </a:spcBef>
              <a:buNone/>
            </a:pPr>
            <a:r>
              <a:rPr lang="en-US" sz="1500" b="1" dirty="0">
                <a:solidFill>
                  <a:srgbClr val="3E7E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■ 現状の限界</a:t>
            </a:r>
            <a:endParaRPr lang="en-US" sz="1500" dirty="0"/>
          </a:p>
          <a:p>
            <a:pPr algn="l" lvl="1" indent="0" marL="0">
              <a:spcBef>
                <a:spcPts val="300"/>
              </a:spcBef>
              <a:buNone/>
            </a:pPr>
            <a:r>
              <a:rPr lang="en-US" sz="1200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• 双子楕円曲線（CycleFold）に依存</a:t>
            </a:r>
            <a:endParaRPr lang="en-US" sz="1500" dirty="0"/>
          </a:p>
          <a:p>
            <a:pPr algn="l" lvl="1" indent="0" marL="0">
              <a:spcBef>
                <a:spcPts val="300"/>
              </a:spcBef>
              <a:buNone/>
            </a:pPr>
            <a:r>
              <a:rPr lang="en-US" sz="1200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• 高効率なペアリング可能曲線ペア（Pallas / Vesta 等）が必要</a:t>
            </a:r>
            <a:endParaRPr lang="en-US" sz="1500" dirty="0"/>
          </a:p>
          <a:p>
            <a:pPr algn="l" lvl="1" indent="0" marL="0">
              <a:spcBef>
                <a:spcPts val="300"/>
              </a:spcBef>
              <a:buNone/>
            </a:pPr>
            <a:r>
              <a:rPr lang="en-US" sz="1200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• HyperKZG 利用時は trusted setup が必要</a:t>
            </a:r>
            <a:endParaRPr lang="en-US" sz="1500" dirty="0"/>
          </a:p>
          <a:p>
            <a:pPr algn="l" lvl="1" indent="0" marL="0">
              <a:spcBef>
                <a:spcPts val="300"/>
              </a:spcBef>
              <a:buNone/>
            </a:pPr>
            <a:r>
              <a:rPr lang="en-US" sz="1200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• post-quantum 安全性は未対応</a:t>
            </a:r>
            <a:endParaRPr lang="en-US" sz="1500" dirty="0"/>
          </a:p>
          <a:p>
            <a:pPr algn="l" lvl="1" indent="0" marL="0">
              <a:spcBef>
                <a:spcPts val="300"/>
              </a:spcBef>
              <a:buNone/>
            </a:pPr>
            <a:r>
              <a:rPr lang="en-US" sz="1200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• Nova / SuperNova ほどの実装成熟度はまだ浅い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672584" y="1225296"/>
            <a:ext cx="4005072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600"/>
              </a:spcBef>
              <a:buNone/>
            </a:pPr>
            <a:r>
              <a:rPr lang="en-US" sz="1500" b="1" dirty="0">
                <a:solidFill>
                  <a:srgbClr val="3E7E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■ 今後の方向性</a:t>
            </a:r>
            <a:endParaRPr lang="en-US" sz="1500" dirty="0"/>
          </a:p>
          <a:p>
            <a:pPr algn="l" lvl="1" indent="0" marL="0">
              <a:spcBef>
                <a:spcPts val="300"/>
              </a:spcBef>
              <a:buNone/>
            </a:pPr>
            <a:r>
              <a:rPr lang="en-US" sz="1200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• 楕円曲線サイクル不要な構成への拡張</a:t>
            </a:r>
            <a:endParaRPr lang="en-US" sz="1500" dirty="0"/>
          </a:p>
          <a:p>
            <a:pPr algn="l" lvl="1" indent="0" marL="0">
              <a:spcBef>
                <a:spcPts val="300"/>
              </a:spcBef>
              <a:buNone/>
            </a:pPr>
            <a:r>
              <a:rPr lang="en-US" sz="1200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• hash-based / lattice-based 証明系への展開</a:t>
            </a:r>
            <a:endParaRPr lang="en-US" sz="1500" dirty="0"/>
          </a:p>
          <a:p>
            <a:pPr algn="l" lvl="1" indent="0" marL="0">
              <a:spcBef>
                <a:spcPts val="300"/>
              </a:spcBef>
              <a:buNone/>
            </a:pPr>
            <a:r>
              <a:rPr lang="en-US" sz="1200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• zkVM / ZK-Rollup のバックエンドとして本番採用が進行</a:t>
            </a:r>
            <a:endParaRPr lang="en-US" sz="1500" dirty="0"/>
          </a:p>
          <a:p>
            <a:pPr algn="l" lvl="1" indent="0" marL="0">
              <a:spcBef>
                <a:spcPts val="300"/>
              </a:spcBef>
              <a:buNone/>
            </a:pPr>
            <a:r>
              <a:rPr lang="en-US" sz="1200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• Lurk / Sonobe / VIMz などモジュールへの取り込み</a:t>
            </a:r>
            <a:endParaRPr lang="en-US" sz="1500" dirty="0"/>
          </a:p>
          <a:p>
            <a:pPr algn="l" lvl="1" indent="0" marL="0">
              <a:spcBef>
                <a:spcPts val="300"/>
              </a:spcBef>
              <a:buNone/>
            </a:pPr>
            <a:r>
              <a:rPr lang="en-US" sz="1200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• 後続研究: ProtoStar, Protogalaxy, KiloNova への流れ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17136" y="1316736"/>
            <a:ext cx="0" cy="475488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93192" y="6601968"/>
            <a:ext cx="53949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826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12648"/>
          </a:xfrm>
          <a:prstGeom prst="rect">
            <a:avLst/>
          </a:prstGeom>
          <a:solidFill>
            <a:srgbClr val="F3F4F6"/>
          </a:solidFill>
          <a:ln/>
        </p:spPr>
      </p:sp>
      <p:sp>
        <p:nvSpPr>
          <p:cNvPr id="3" name="Text 1"/>
          <p:cNvSpPr/>
          <p:nvPr/>
        </p:nvSpPr>
        <p:spPr>
          <a:xfrm>
            <a:off x="393192" y="91440"/>
            <a:ext cx="8357616" cy="4297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282629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まとめ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93192" y="813816"/>
            <a:ext cx="64008" cy="274320"/>
          </a:xfrm>
          <a:prstGeom prst="rect">
            <a:avLst/>
          </a:prstGeom>
          <a:solidFill>
            <a:srgbClr val="3E7EC7"/>
          </a:solidFill>
          <a:ln/>
        </p:spPr>
      </p:sp>
      <p:sp>
        <p:nvSpPr>
          <p:cNvPr id="5" name="Text 3"/>
          <p:cNvSpPr/>
          <p:nvPr/>
        </p:nvSpPr>
        <p:spPr>
          <a:xfrm>
            <a:off x="576072" y="786384"/>
            <a:ext cx="817473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3E7E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HyperNova ── ZKP の表現力と効率を大きく前進させた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393192" y="1225296"/>
            <a:ext cx="8284464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lvl="1" indent="0" marL="0">
              <a:spcBef>
                <a:spcPts val="300"/>
              </a:spcBef>
              <a:buNone/>
            </a:pPr>
            <a:r>
              <a:rPr lang="en-US" sz="1300" b="1" dirty="0">
                <a:solidFill>
                  <a:srgbClr val="196B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• ✓ HyperNova = CCS に対する folding scheme</a:t>
            </a:r>
            <a:endParaRPr lang="en-US" sz="1300" dirty="0"/>
          </a:p>
          <a:p>
            <a:pPr algn="l" lvl="1" indent="0" marL="0">
              <a:spcBef>
                <a:spcPts val="300"/>
              </a:spcBef>
              <a:buNone/>
            </a:pPr>
            <a:r>
              <a:rPr lang="en-US" sz="1300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•   R1CS / Plonkish / AIR を統一的に扱える初の IVC フレームワーク</a:t>
            </a:r>
            <a:endParaRPr lang="en-US" sz="1300" dirty="0"/>
          </a:p>
          <a:p>
            <a:pPr algn="l" lvl="1" indent="0" marL="0">
              <a:spcBef>
                <a:spcPts val="300"/>
              </a:spcBef>
              <a:buNone/>
            </a:pPr>
            <a:r>
              <a:rPr lang="en-US" sz="1300" b="1" dirty="0">
                <a:solidFill>
                  <a:srgbClr val="196B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• ✓ Prover cost を「回路サイズ」から「呼ばれた命令の回路」に分離</a:t>
            </a:r>
            <a:endParaRPr lang="en-US" sz="1300" dirty="0"/>
          </a:p>
          <a:p>
            <a:pPr algn="l" lvl="1" indent="0" marL="0">
              <a:spcBef>
                <a:spcPts val="300"/>
              </a:spcBef>
              <a:buNone/>
            </a:pPr>
            <a:r>
              <a:rPr lang="en-US" sz="1300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•   zkVM / ZK-Rollup / LLM provenance で特に有利</a:t>
            </a:r>
            <a:endParaRPr lang="en-US" sz="1300" dirty="0"/>
          </a:p>
          <a:p>
            <a:pPr algn="l" lvl="1" indent="0" marL="0">
              <a:spcBef>
                <a:spcPts val="300"/>
              </a:spcBef>
              <a:buNone/>
            </a:pPr>
            <a:r>
              <a:rPr lang="en-US" sz="1300" b="1" dirty="0">
                <a:solidFill>
                  <a:srgbClr val="196B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• ✓ Multi-folding / CycleFold / NovaBlindFold を同時提供</a:t>
            </a:r>
            <a:endParaRPr lang="en-US" sz="1300" dirty="0"/>
          </a:p>
          <a:p>
            <a:pPr algn="l" lvl="1" indent="0" marL="0">
              <a:spcBef>
                <a:spcPts val="300"/>
              </a:spcBef>
              <a:buNone/>
            </a:pPr>
            <a:r>
              <a:rPr lang="en-US" sz="1300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•   非均一ステップ，楕円曲線サイクルの汎用化，ZK の簡素化</a:t>
            </a:r>
            <a:endParaRPr lang="en-US" sz="1300" dirty="0"/>
          </a:p>
          <a:p>
            <a:pPr algn="l" lvl="1" indent="0" marL="0">
              <a:spcBef>
                <a:spcPts val="300"/>
              </a:spcBef>
              <a:buNone/>
            </a:pPr>
            <a:r>
              <a:rPr lang="en-US" sz="1300" b="1" dirty="0">
                <a:solidFill>
                  <a:srgbClr val="C050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• ✗ 双子楕円曲線と（HyperKZG 利用時の）trusted setup は残る</a:t>
            </a:r>
            <a:endParaRPr lang="en-US" sz="1300" dirty="0"/>
          </a:p>
          <a:p>
            <a:pPr algn="l" lvl="1" indent="0" marL="0">
              <a:spcBef>
                <a:spcPts val="300"/>
              </a:spcBef>
              <a:buNone/>
            </a:pPr>
            <a:r>
              <a:rPr lang="en-US" sz="1300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•   post-quantum 安全性は今後の課題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93192" y="5303520"/>
            <a:ext cx="8284464" cy="822960"/>
          </a:xfrm>
          <a:prstGeom prst="rect">
            <a:avLst/>
          </a:prstGeom>
          <a:solidFill>
            <a:srgbClr val="E8EFF8"/>
          </a:solidFill>
          <a:ln w="6350">
            <a:solidFill>
              <a:srgbClr val="3E7EC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30352" y="5303520"/>
            <a:ext cx="801014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結論 ── HyperNova は「zkVM 時代の IVC バックエンド」候補として最有力。CCS general 化により，ZKP の表現力と効率を同時に押し上げた。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93192" y="6217920"/>
            <a:ext cx="8284464" cy="411480"/>
          </a:xfrm>
          <a:prstGeom prst="rect">
            <a:avLst/>
          </a:prstGeom>
          <a:solidFill>
            <a:srgbClr val="E8EFF8"/>
          </a:solidFill>
          <a:ln w="6350">
            <a:solidFill>
              <a:srgbClr val="3E7EC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30352" y="6217920"/>
            <a:ext cx="801014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Q &amp; A ── ご清聴ありがとうございました。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93192" y="6601968"/>
            <a:ext cx="53949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826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12648"/>
          </a:xfrm>
          <a:prstGeom prst="rect">
            <a:avLst/>
          </a:prstGeom>
          <a:solidFill>
            <a:srgbClr val="F3F4F6"/>
          </a:solidFill>
          <a:ln/>
        </p:spPr>
      </p:sp>
      <p:sp>
        <p:nvSpPr>
          <p:cNvPr id="3" name="Text 1"/>
          <p:cNvSpPr/>
          <p:nvPr/>
        </p:nvSpPr>
        <p:spPr>
          <a:xfrm>
            <a:off x="393192" y="91440"/>
            <a:ext cx="8357616" cy="4297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282629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数式編 (1) ── IVC と Folding の形式定義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93192" y="813816"/>
            <a:ext cx="64008" cy="274320"/>
          </a:xfrm>
          <a:prstGeom prst="rect">
            <a:avLst/>
          </a:prstGeom>
          <a:solidFill>
            <a:srgbClr val="3E7EC7"/>
          </a:solidFill>
          <a:ln/>
        </p:spPr>
      </p:sp>
      <p:sp>
        <p:nvSpPr>
          <p:cNvPr id="5" name="Text 3"/>
          <p:cNvSpPr/>
          <p:nvPr/>
        </p:nvSpPr>
        <p:spPr>
          <a:xfrm>
            <a:off x="576072" y="786384"/>
            <a:ext cx="817473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3E7E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HyperNova の主張を数式で正確に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393192" y="1225296"/>
            <a:ext cx="8284464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3E7E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■  Incrementally Verifiable Computation (IVC) とは</a:t>
            </a:r>
            <a:endParaRPr lang="en-US" sz="16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
</a:t>
            </a:r>
            <a:pPr algn="l"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◾ </a:t>
            </a:r>
            <a:pPr algn="l" indent="0" marL="0">
              <a:spcAft>
                <a:spcPts val="200"/>
              </a:spcAft>
              <a:buNone/>
            </a:pPr>
            <a:r>
              <a:rPr lang="en-US" sz="1300" b="1" i="1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Setup</a:t>
            </a:r>
            <a:pPr algn="l"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(1</a:t>
            </a:r>
            <a:pPr algn="l" indent="0" marL="0">
              <a:spcAft>
                <a:spcPts val="200"/>
              </a:spcAft>
              <a:buNone/>
            </a:pPr>
            <a:r>
              <a:rPr lang="en-US" sz="1300" i="1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λ</a:t>
            </a:r>
            <a:pPr algn="l"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) → (pk, vk).</a:t>
            </a:r>
            <a:endParaRPr lang="en-US" sz="16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◾ </a:t>
            </a:r>
            <a:pPr algn="l" indent="0" marL="0">
              <a:spcAft>
                <a:spcPts val="200"/>
              </a:spcAft>
              <a:buNone/>
            </a:pPr>
            <a:r>
              <a:rPr lang="en-US" sz="1300" b="1" i="1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Prover</a:t>
            </a:r>
            <a:pPr algn="l"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は各ステップの witness </a:t>
            </a:r>
            <a:pPr algn="l" indent="0" marL="0">
              <a:spcAft>
                <a:spcPts val="200"/>
              </a:spcAft>
              <a:buNone/>
            </a:pPr>
            <a:r>
              <a:rPr lang="en-US" sz="1300" i="1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ω</a:t>
            </a:r>
            <a:pPr algn="l"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_i を渡されて </a:t>
            </a:r>
            <a:pPr algn="l" indent="0" marL="0">
              <a:spcAft>
                <a:spcPts val="200"/>
              </a:spcAft>
              <a:buNone/>
            </a:pPr>
            <a:r>
              <a:rPr lang="en-US" sz="1300" i="1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π</a:t>
            </a:r>
            <a:pPr algn="l"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_i を更新する:</a:t>
            </a:r>
            <a:endParaRPr lang="en-US" sz="16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     </a:t>
            </a:r>
            <a:pPr algn="l" indent="0" marL="0">
              <a:spcAft>
                <a:spcPts val="200"/>
              </a:spcAft>
              <a:buNone/>
            </a:pPr>
            <a:r>
              <a:rPr lang="en-US" sz="1400" b="1" i="1" dirty="0">
                <a:solidFill>
                  <a:srgbClr val="3E7E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π</a:t>
            </a:r>
            <a:pPr algn="l"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_i ← </a:t>
            </a:r>
            <a:pPr algn="l" indent="0" marL="0">
              <a:spcAft>
                <a:spcPts val="200"/>
              </a:spcAft>
              <a:buNone/>
            </a:pPr>
            <a:r>
              <a:rPr lang="en-US" sz="1400" i="1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Prove</a:t>
            </a:r>
            <a:pPr algn="l"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(pk, F, z_0, i, (z_1, ω_1), …, (z_i, ω_i))</a:t>
            </a:r>
            <a:endParaRPr lang="en-US" sz="16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◾ </a:t>
            </a:r>
            <a:pPr algn="l" indent="0" marL="0">
              <a:spcAft>
                <a:spcPts val="200"/>
              </a:spcAft>
              <a:buNone/>
            </a:pPr>
            <a:r>
              <a:rPr lang="en-US" sz="1300" b="1" i="1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Verifier</a:t>
            </a:r>
            <a:pPr algn="l"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は最終 π だけ見て判定:</a:t>
            </a:r>
            <a:endParaRPr lang="en-US" sz="16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     </a:t>
            </a:r>
            <a:pPr algn="l" indent="0" marL="0">
              <a:spcAft>
                <a:spcPts val="200"/>
              </a:spcAft>
              <a:buNone/>
            </a:pPr>
            <a:r>
              <a:rPr lang="en-US" sz="1400" i="1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Verify</a:t>
            </a:r>
            <a:pPr algn="l"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(vk, F, z_0, i, z_i, π_i) → </a:t>
            </a:r>
            <a:pPr algn="l" indent="0" marL="0">
              <a:spcAft>
                <a:spcPts val="200"/>
              </a:spcAft>
              <a:buNone/>
            </a:pPr>
            <a:r>
              <a:rPr lang="en-US" sz="1400" b="1" i="1" dirty="0">
                <a:solidFill>
                  <a:srgbClr val="3E7E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{accept, reject}</a:t>
            </a:r>
            <a:pPr algn="l"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
</a:t>
            </a:r>
            <a:pPr algn="l"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6B7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◾ 性質 3 つ ── </a:t>
            </a:r>
            <a:pPr algn="l" indent="0" marL="0">
              <a:spcAft>
                <a:spcPts val="200"/>
              </a:spcAft>
              <a:buNone/>
            </a:pPr>
            <a:r>
              <a:rPr lang="en-US" sz="1300" i="1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Completeness</a:t>
            </a:r>
            <a:pPr algn="l"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6B7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/ </a:t>
            </a:r>
            <a:pPr algn="l" indent="0" marL="0">
              <a:spcAft>
                <a:spcPts val="200"/>
              </a:spcAft>
              <a:buNone/>
            </a:pPr>
            <a:r>
              <a:rPr lang="en-US" sz="1300" i="1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Soundness</a:t>
            </a:r>
            <a:pPr algn="l"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6B7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/ </a:t>
            </a:r>
            <a:pPr algn="l" indent="0" marL="0">
              <a:spcAft>
                <a:spcPts val="200"/>
              </a:spcAft>
              <a:buNone/>
            </a:pPr>
            <a:r>
              <a:rPr lang="en-US" sz="1300" b="1" i="1" dirty="0">
                <a:solidFill>
                  <a:srgbClr val="3E7E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ZK (Hiding)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93192" y="3429000"/>
            <a:ext cx="8284464" cy="0"/>
          </a:xfrm>
          <a:prstGeom prst="line">
            <a:avLst/>
          </a:prstGeom>
          <a:noFill/>
          <a:ln w="9525">
            <a:solidFill>
              <a:srgbClr val="D1D5D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3192" y="3611880"/>
            <a:ext cx="828446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3E7E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■  Folding Scheme とは</a:t>
            </a:r>
            <a:endParaRPr lang="en-US" sz="16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
</a:t>
            </a:r>
            <a:pPr algn="l"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◾ 2 つの NP instance を 1 つの instance に集約する暗号プリミティブ</a:t>
            </a:r>
            <a:endParaRPr lang="en-US" sz="16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     </a:t>
            </a:r>
            <a:pPr algn="l"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3E7E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(u_1, u_2)  ── Fold ──→  u_3</a:t>
            </a:r>
            <a:endParaRPr lang="en-US" sz="16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◾ Prover と Verifier の動作:</a:t>
            </a:r>
            <a:endParaRPr lang="en-US" sz="16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     </a:t>
            </a:r>
            <a:pPr algn="l" indent="0" marL="0">
              <a:spcAft>
                <a:spcPts val="200"/>
              </a:spcAft>
              <a:buNone/>
            </a:pPr>
            <a:r>
              <a:rPr lang="en-US" sz="1300" i="1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Fold.Prove</a:t>
            </a:r>
            <a:pPr algn="l"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(pk, u_1, u_2, w_1, w_2) → </a:t>
            </a:r>
            <a:pPr algn="l" indent="0" marL="0">
              <a:spcAft>
                <a:spcPts val="200"/>
              </a:spcAft>
              <a:buNone/>
            </a:pPr>
            <a:r>
              <a:rPr lang="en-US" sz="1300" i="1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π</a:t>
            </a:r>
            <a:pPr algn="l"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_3      (folded proof)</a:t>
            </a:r>
            <a:endParaRPr lang="en-US" sz="16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     </a:t>
            </a:r>
            <a:pPr algn="l" indent="0" marL="0">
              <a:spcAft>
                <a:spcPts val="200"/>
              </a:spcAft>
              <a:buNone/>
            </a:pPr>
            <a:r>
              <a:rPr lang="en-US" sz="1300" i="1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Fold.Verify</a:t>
            </a:r>
            <a:pPr algn="l"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(vk, u_1, u_2, u_3, π_3) → </a:t>
            </a:r>
            <a:pPr algn="l" indent="0" marL="0">
              <a:spcAft>
                <a:spcPts val="200"/>
              </a:spcAft>
              <a:buNone/>
            </a:pPr>
            <a:r>
              <a:rPr lang="en-US" sz="1300" b="1" i="1" dirty="0">
                <a:solidFill>
                  <a:srgbClr val="3E7E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{accept}</a:t>
            </a:r>
            <a:pPr algn="l"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
</a:t>
            </a:r>
            <a:pPr algn="l"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◾ Folding のコスト:</a:t>
            </a:r>
            <a:endParaRPr lang="en-US" sz="16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     </a:t>
            </a:r>
            <a:pPr algn="l"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prover は 1 回の </a:t>
            </a:r>
            <a:pPr algn="l" indent="0" marL="0">
              <a:spcAft>
                <a:spcPts val="200"/>
              </a:spcAft>
              <a:buNone/>
            </a:pPr>
            <a:r>
              <a:rPr lang="en-US" sz="1300" i="1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MSM (multi-scalar multiplication)</a:t>
            </a:r>
            <a:pPr algn="l"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で 1 step を完了</a:t>
            </a:r>
            <a:endParaRPr lang="en-US" sz="16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     </a:t>
            </a:r>
            <a:pPr algn="l"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cost = </a:t>
            </a:r>
            <a:pPr algn="l" indent="0" marL="0">
              <a:spcAft>
                <a:spcPts val="200"/>
              </a:spcAft>
              <a:buNone/>
            </a:pPr>
            <a:r>
              <a:rPr lang="en-US" sz="1400" b="1" i="1" dirty="0">
                <a:solidFill>
                  <a:srgbClr val="3E7E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O(1)·MSM(size N)</a:t>
            </a:r>
            <a:pPr algn="l"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← </a:t>
            </a:r>
            <a:pPr algn="l" indent="0" marL="0">
              <a:spcAft>
                <a:spcPts val="200"/>
              </a:spcAft>
              <a:buNone/>
            </a:pPr>
            <a:r>
              <a:rPr lang="en-US" sz="1300" i="1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</a:t>
            </a:r>
            <a:pPr algn="l"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は制約システムの変数数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393192" y="6263640"/>
            <a:ext cx="82844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ポイント：</a:t>
            </a:r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Nova は </a:t>
            </a:r>
            <a:pPr algn="l" indent="0" marL="0">
              <a:buNone/>
            </a:pPr>
            <a:r>
              <a:rPr lang="en-US" sz="1200" i="1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R1CS</a:t>
            </a:r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に閉じていた。HyperNova は </a:t>
            </a:r>
            <a:pPr algn="l" indent="0" marL="0">
              <a:buNone/>
            </a:pPr>
            <a:r>
              <a:rPr lang="en-US" sz="1200" i="1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CCS</a:t>
            </a:r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で同じコスト特性を実現 ── </a:t>
            </a:r>
            <a:pPr algn="l" indent="0" marL="0">
              <a:buNone/>
            </a:pPr>
            <a:r>
              <a:rPr lang="en-US" sz="1200" i="1" dirty="0">
                <a:solidFill>
                  <a:srgbClr val="3E7E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これが Slide 8 の「1 MSM」の主張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93192" y="6601968"/>
            <a:ext cx="53949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826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12648"/>
          </a:xfrm>
          <a:prstGeom prst="rect">
            <a:avLst/>
          </a:prstGeom>
          <a:solidFill>
            <a:srgbClr val="F3F4F6"/>
          </a:solidFill>
          <a:ln/>
        </p:spPr>
      </p:sp>
      <p:sp>
        <p:nvSpPr>
          <p:cNvPr id="3" name="Text 1"/>
          <p:cNvSpPr/>
          <p:nvPr/>
        </p:nvSpPr>
        <p:spPr>
          <a:xfrm>
            <a:off x="393192" y="91440"/>
            <a:ext cx="8357616" cy="4297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282629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数式編 (2) ── ZK-IVC と Hiding (NovaBlindFold)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93192" y="813816"/>
            <a:ext cx="64008" cy="274320"/>
          </a:xfrm>
          <a:prstGeom prst="rect">
            <a:avLst/>
          </a:prstGeom>
          <a:solidFill>
            <a:srgbClr val="3E7EC7"/>
          </a:solidFill>
          <a:ln/>
        </p:spPr>
      </p:sp>
      <p:sp>
        <p:nvSpPr>
          <p:cNvPr id="5" name="Text 3"/>
          <p:cNvSpPr/>
          <p:nvPr/>
        </p:nvSpPr>
        <p:spPr>
          <a:xfrm>
            <a:off x="576072" y="786384"/>
            <a:ext cx="817473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3E7E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"計算の正当性" だけでなく "中身を秘匿" する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393192" y="1225296"/>
            <a:ext cx="8284464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3E7E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■  ZK-IVC (Zero-Knowledge IVC) とは</a:t>
            </a:r>
            <a:endParaRPr lang="en-US" sz="16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
</a:t>
            </a:r>
            <a:pPr algn="l"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◾ IVC にさらに </a:t>
            </a:r>
            <a:pPr algn="l" indent="0" marL="0">
              <a:spcAft>
                <a:spcPts val="200"/>
              </a:spcAft>
              <a:buNone/>
            </a:pPr>
            <a:r>
              <a:rPr lang="en-US" sz="1300" b="1" i="1" dirty="0">
                <a:solidFill>
                  <a:srgbClr val="3E7E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Zero-Knowledge (Hiding)</a:t>
            </a:r>
            <a:pPr algn="l"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を加えたもの</a:t>
            </a:r>
            <a:endParaRPr lang="en-US" sz="16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◾ Hiding = 次の 3 つを </a:t>
            </a:r>
            <a:endParaRPr lang="en-US" sz="16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C050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一切</a:t>
            </a:r>
            <a:pPr algn="l"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明かさない:</a:t>
            </a:r>
            <a:endParaRPr lang="en-US" sz="16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     ① 中間状態 z_1, z_2, …, z_{i-1} （隠蔽）</a:t>
            </a:r>
            <a:endParaRPr lang="en-US" sz="16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     ② 各 step の witness ω_1, …, ω_i （秘匿）</a:t>
            </a:r>
            <a:endParaRPr lang="en-US" sz="16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     ③ 証明 π_i と witness のリンク性</a:t>
            </a:r>
            <a:endParaRPr lang="en-US" sz="16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
</a:t>
            </a:r>
            <a:pPr algn="l"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◾ なぜ重要か（zkVM の文脈）</a:t>
            </a:r>
            <a:endParaRPr lang="en-US" sz="16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     LLM inference / 医療データ / 秘密鍵計算など</a:t>
            </a:r>
            <a:endParaRPr lang="en-US" sz="16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     中身を知られずに「正しく実行された」ことだけを示したい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93192" y="3703320"/>
            <a:ext cx="8284464" cy="0"/>
          </a:xfrm>
          <a:prstGeom prst="line">
            <a:avLst/>
          </a:prstGeom>
          <a:noFill/>
          <a:ln w="9525">
            <a:solidFill>
              <a:srgbClr val="D1D5D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3192" y="3886200"/>
            <a:ext cx="8284464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3E7E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■  NovaBlindFold ── 追加 SNARK なしで ZK を加える技法</a:t>
            </a:r>
            <a:endParaRPr lang="en-US" sz="16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
</a:t>
            </a:r>
            <a:pPr algn="l"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◾ Nova の folding 自体がもつ </a:t>
            </a:r>
            <a:pPr algn="l" indent="0" marL="0">
              <a:spcAft>
                <a:spcPts val="200"/>
              </a:spcAft>
              <a:buNone/>
            </a:pPr>
            <a:r>
              <a:rPr lang="en-US" sz="1300" i="1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blinding property</a:t>
            </a:r>
            <a:pPr algn="l"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を利用する</a:t>
            </a:r>
            <a:endParaRPr lang="en-US" sz="16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     ランダム instance </a:t>
            </a:r>
            <a:pPr algn="l" indent="0" marL="0">
              <a:spcAft>
                <a:spcPts val="200"/>
              </a:spcAft>
              <a:buNone/>
            </a:pPr>
            <a:r>
              <a:rPr lang="en-US" sz="1300" i="1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ρ</a:t>
            </a:r>
            <a:pPr algn="l"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を fold して IVC 証明に混ぜる:</a:t>
            </a:r>
            <a:endParaRPr lang="en-US" sz="16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     </a:t>
            </a:r>
            <a:pPr algn="l" indent="0" marL="0">
              <a:spcAft>
                <a:spcPts val="200"/>
              </a:spcAft>
              <a:buNone/>
            </a:pPr>
            <a:r>
              <a:rPr lang="en-US" sz="1400" b="1" i="1" dirty="0">
                <a:solidFill>
                  <a:srgbClr val="3E7E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π</a:t>
            </a:r>
            <a:pPr algn="l"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_zk ← </a:t>
            </a:r>
            <a:pPr algn="l" indent="0" marL="0">
              <a:spcAft>
                <a:spcPts val="200"/>
              </a:spcAft>
              <a:buNone/>
            </a:pPr>
            <a:r>
              <a:rPr lang="en-US" sz="1400" i="1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Fold</a:t>
            </a:r>
            <a:pPr algn="l"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(π_n, </a:t>
            </a:r>
            <a:pPr algn="l" indent="0" marL="0">
              <a:spcAft>
                <a:spcPts val="200"/>
              </a:spcAft>
              <a:buNone/>
            </a:pPr>
            <a:r>
              <a:rPr lang="en-US" sz="1400" i="1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ρ</a:t>
            </a:r>
            <a:pPr algn="l"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)</a:t>
            </a:r>
            <a:endParaRPr lang="en-US" sz="16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◾ blinding 性の意味:</a:t>
            </a:r>
            <a:endParaRPr lang="en-US" sz="16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     Verify(vk, z_0, n, z_n, π_zk) は </a:t>
            </a:r>
            <a:pPr algn="l" indent="0" marL="0">
              <a:spcAft>
                <a:spcPts val="200"/>
              </a:spcAft>
              <a:buNone/>
            </a:pPr>
            <a:r>
              <a:rPr lang="en-US" sz="1300" i="1" dirty="0">
                <a:solidFill>
                  <a:srgbClr val="3E7E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「任意のランダム化された証明との区別不能性」</a:t>
            </a:r>
            <a:pPr algn="l"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を満たす</a:t>
            </a:r>
            <a:endParaRPr lang="en-US" sz="16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
</a:t>
            </a:r>
            <a:pPr algn="l"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◾ 既存方式との比較:</a:t>
            </a:r>
            <a:endParaRPr lang="en-US" sz="16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     </a:t>
            </a:r>
            <a:pPr algn="l"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既存 Nova 系</a:t>
            </a:r>
            <a:pPr algn="l"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C050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── 別 SNARK（Groth16 等）を被せて ZK 化</a:t>
            </a:r>
            <a:endParaRPr lang="en-US" sz="16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     </a:t>
            </a:r>
            <a:pPr algn="l"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HyperNova (本論文)</a:t>
            </a:r>
            <a:pPr algn="l"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3E7E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── 上の Fold(π, ρ) だけで ZK 化（回路サイズ小）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393192" y="6601968"/>
            <a:ext cx="53949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826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12648"/>
          </a:xfrm>
          <a:prstGeom prst="rect">
            <a:avLst/>
          </a:prstGeom>
          <a:solidFill>
            <a:srgbClr val="F3F4F6"/>
          </a:solidFill>
          <a:ln/>
        </p:spPr>
      </p:sp>
      <p:sp>
        <p:nvSpPr>
          <p:cNvPr id="3" name="Text 1"/>
          <p:cNvSpPr/>
          <p:nvPr/>
        </p:nvSpPr>
        <p:spPr>
          <a:xfrm>
            <a:off x="393192" y="91440"/>
            <a:ext cx="8357616" cy="4297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282629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実データ編 ── HyperNova vs Nova のベンチマーク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93192" y="813816"/>
            <a:ext cx="64008" cy="274320"/>
          </a:xfrm>
          <a:prstGeom prst="rect">
            <a:avLst/>
          </a:prstGeom>
          <a:solidFill>
            <a:srgbClr val="3E7EC7"/>
          </a:solidFill>
          <a:ln/>
        </p:spPr>
      </p:sp>
      <p:sp>
        <p:nvSpPr>
          <p:cNvPr id="5" name="Text 3"/>
          <p:cNvSpPr/>
          <p:nvPr/>
        </p:nvSpPr>
        <p:spPr>
          <a:xfrm>
            <a:off x="576072" y="786384"/>
            <a:ext cx="817473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3E7E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「1 つの主張」を 4 つの数字で裏付ける</a:t>
            </a:r>
            <a:endParaRPr lang="en-US" sz="18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93192" y="1225296"/>
          <a:ext cx="8284464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011680"/>
                <a:gridCol w="2286000"/>
                <a:gridCol w="2157984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項目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E7EC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Nova (R1CS)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E7EC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SuperNova (R1CS, 非均一)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E7EC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HyperNova (CCS)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E7EC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8262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prover / step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8262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O(|C|) の Scalar Mult.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8262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O(|step|) の Scalar Mult.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8262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 × MSM (size N) + O(log N) hash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8262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verifier 回路サイズ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8262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約 10K gates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8262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約 10K gates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8262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同程度（汎用の加算）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8262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proof size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8262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O(1) 数 kB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8262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O(1) 数 kB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8262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O(1) 数 kB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8262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trusted setup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8262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不要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8262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不要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8262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HyperKZG 利用時のみ必要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8262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双子楕円曲線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8262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必要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8262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必要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8262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必要（CycleFold 経由）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8262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ZK (hiding) 化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8262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別 SNARK が必要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8262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別 SNARK が必要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8262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NovaBlindFold で不要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393192" y="4160520"/>
            <a:ext cx="828446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600"/>
              </a:spcBef>
              <a:buNone/>
            </a:pPr>
            <a:r>
              <a:rPr lang="en-US" sz="1500" b="1" dirty="0">
                <a:solidFill>
                  <a:srgbClr val="3E7E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■ ■ 読み取り</a:t>
            </a:r>
            <a:endParaRPr lang="en-US" sz="1500" dirty="0"/>
          </a:p>
          <a:p>
            <a:pPr algn="l" lvl="1" indent="0" marL="0">
              <a:spcBef>
                <a:spcPts val="300"/>
              </a:spcBef>
              <a:buNone/>
            </a:pPr>
            <a:r>
              <a:rPr lang="en-US" sz="1200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• HyperNova の prover コストは「実行された 1 命令の回路サイズの変数数 N」だけ</a:t>
            </a:r>
            <a:endParaRPr lang="en-US" sz="1500" dirty="0"/>
          </a:p>
          <a:p>
            <a:pPr algn="l" lvl="1" indent="0" marL="0">
              <a:spcBef>
                <a:spcPts val="300"/>
              </a:spcBef>
              <a:buNone/>
            </a:pPr>
            <a:r>
              <a:rPr lang="en-US" sz="1200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• ─ zkVM で命令が混在する workload では，殆どの step で N ≪ |C| にできる</a:t>
            </a:r>
            <a:endParaRPr lang="en-US" sz="1500" dirty="0"/>
          </a:p>
          <a:p>
            <a:pPr algn="l" lvl="1" indent="0" marL="0">
              <a:spcBef>
                <a:spcPts val="300"/>
              </a:spcBef>
              <a:buNone/>
            </a:pPr>
            <a:r>
              <a:rPr lang="en-US" sz="1200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• ─ たとえば EVM 実行では，ADD 命令の N は数 100，JUMPI は数千 ── 全体を再証明する必要なし</a:t>
            </a:r>
            <a:endParaRPr lang="en-US" sz="1500" dirty="0"/>
          </a:p>
          <a:p>
            <a:pPr algn="l" lvl="1" indent="0" marL="0">
              <a:spcBef>
                <a:spcPts val="300"/>
              </a:spcBef>
              <a:buNone/>
            </a:pPr>
            <a:r>
              <a:rPr lang="en-US" sz="1200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• verifier 回路は Nova 系と同じ ~10K gates 前後 ── L1 での on-chain verify に十分軽い</a:t>
            </a:r>
            <a:endParaRPr lang="en-US" sz="1500" dirty="0"/>
          </a:p>
          <a:p>
            <a:pPr algn="l" lvl="1" indent="0" marL="0">
              <a:spcBef>
                <a:spcPts val="300"/>
              </a:spcBef>
              <a:buNone/>
            </a:pPr>
            <a:r>
              <a:rPr lang="en-US" sz="1200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• proof size は O(1) ── どの IVC でも最終証明のサイズは変わらない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393192" y="6263640"/>
            <a:ext cx="82844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出典: HyperNova paper (ePrint 2023/573) §6 / microsoft/Nova README / Nexus zkVM blog (2025)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393192" y="6601968"/>
            <a:ext cx="53949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826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HyperNova - Recursive Arguments for Customizable Constraint Systems</dc:title>
  <dc:subject>CRYPTO 2024 paper overview</dc:subject>
  <dc:creator>Rinkou 2nd presentation</dc:creator>
  <cp:lastModifiedBy>Rinkou 2nd presentation</cp:lastModifiedBy>
  <cp:revision>1</cp:revision>
  <dcterms:created xsi:type="dcterms:W3CDTF">2026-10-13T01:26:36Z</dcterms:created>
  <dcterms:modified xsi:type="dcterms:W3CDTF">2026-10-13T01:26:36Z</dcterms:modified>
</cp:coreProperties>
</file>